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09728"/>
            <a:ext cx="1280160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109728"/>
            <a:ext cx="8732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SKP ENGINEERING COLLEGE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691640" y="749808"/>
            <a:ext cx="8732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Approved by AICTE New Delhi  |  Affiliated to Anna University - Chennai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691640" y="978408"/>
            <a:ext cx="8732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Tiruvannamalai, Tamil Nadu  |  Phone: +91-4175-252633  |  +91-9443105139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109728"/>
            <a:ext cx="1280160" cy="1280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56032" y="1389888"/>
            <a:ext cx="11676888" cy="22860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56032" y="1444752"/>
            <a:ext cx="11676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INFORMATION TECHNOLOGY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256032" y="1810512"/>
            <a:ext cx="11676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IT3811- Project work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56032" y="2103120"/>
            <a:ext cx="11676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Zeroth Review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7200" y="2542032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Academic Decision-Support Platform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1097280" y="3456432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555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Extending IEEE Baseline: Early Student Performance Prediction to Full AI-Driven Institutional Platform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56032" y="3931920"/>
            <a:ext cx="1167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by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74720" y="4251960"/>
            <a:ext cx="5239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Gokula priya M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</a:t>
            </a:r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(512222205015)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74720" y="4590288"/>
            <a:ext cx="5239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Jeevitha S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</a:t>
            </a:r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(512222205022)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74720" y="4928616"/>
            <a:ext cx="5239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Vaishnavi V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</a:t>
            </a:r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(512222205047)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74720" y="5266944"/>
            <a:ext cx="5239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Keerthi varsha G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 </a:t>
            </a:r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(512222205701)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6032" y="5760720"/>
            <a:ext cx="11676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FACULTY GUIDE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56032" y="6035040"/>
            <a:ext cx="11676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Ms.R.Anusha devi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Introduction &amp; Motivation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881360" y="0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Academic Decision-Support Platform  |  IT3811 Project Work  |  Zeroth Review  |  2025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5715000" cy="5715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22960"/>
            <a:ext cx="73152" cy="57150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822960"/>
            <a:ext cx="5641848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32104"/>
            <a:ext cx="5458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207008"/>
            <a:ext cx="544068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academic failure is a growing global institutional crisis.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 identification of at-risk students remains predominantly manual.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Educators lack AI-powered, real-time data-driven advisory tools.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Reactive intervention arrives too late to prevent academic failure.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EDM research reveals gap between prediction and actionable support.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99632" y="822960"/>
            <a:ext cx="5715000" cy="57150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99632" y="822960"/>
            <a:ext cx="73152" cy="57150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822960"/>
            <a:ext cx="5641848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832104"/>
            <a:ext cx="5458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POSITIONING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82512" y="1207008"/>
            <a:ext cx="5440680" cy="5239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baseline study extended to full AI decision-support platform.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Integrates ML prediction, Explainable AI, and behaviour clustering.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Enables real-time at-risk monitoring with personalised interventions.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Designed for institutional adoption, not only academic validation.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Bridges: Predict → Explain → Advise → Monitor → Cluster.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881360" y="0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Academic Decision-Support Platform  |  IT3811 Project Work  |  Zeroth Review  |  2025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822960"/>
            <a:ext cx="11274552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822960"/>
            <a:ext cx="11000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Problem: Educational institutions lack a unified AI system for early identification, explanation, and intervention for at-risk students.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5742432" cy="230428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27632"/>
            <a:ext cx="73152" cy="230428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627632"/>
            <a:ext cx="5669280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3677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Delayed Risk Detection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011680"/>
            <a:ext cx="54681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At-risk student identification occurs only after grades have already declined significantly.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91072" y="1627632"/>
            <a:ext cx="5742432" cy="230428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91072" y="1627632"/>
            <a:ext cx="73152" cy="230428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64224" y="1627632"/>
            <a:ext cx="5669280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163677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Opaque ML Predictions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73952" y="2011680"/>
            <a:ext cx="54681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models output labels with no explanation of the rationale behind each decision.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74320" y="4206240"/>
            <a:ext cx="5742432" cy="230428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206240"/>
            <a:ext cx="73152" cy="230428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4206240"/>
            <a:ext cx="5669280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153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Actionable Advisory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590288"/>
            <a:ext cx="54681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systems generate class labels — not personalised student study intervention plans.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91072" y="4206240"/>
            <a:ext cx="5742432" cy="230428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91072" y="4206240"/>
            <a:ext cx="73152" cy="230428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64224" y="4206240"/>
            <a:ext cx="5669280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42153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Data Persistence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73952" y="4590288"/>
            <a:ext cx="54681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Predictions are lost on session end — no institutional audit trail or monitoring exists.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Background — Educational Data Mining &amp; ML Role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881360" y="0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Academic Decision-Support Platform  |  IT3811 Project Work  |  Zeroth Review  |  2025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11640312" cy="5486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04672"/>
            <a:ext cx="11365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Educational Data Mining (EDM): A research field developing methods to explore educational data to better understand learners and improve academic outcomes.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379476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63040"/>
            <a:ext cx="73152" cy="51206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463040"/>
            <a:ext cx="3721608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72184"/>
            <a:ext cx="353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EDM Research Areas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1847088"/>
            <a:ext cx="3520440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performance prediction and GPA forecasting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Dropout risk identification from early academic signals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Behavioural pattern discovery using clustering methods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outcome classification using labelled datasets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Admission score and aptitude test correlation analysis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51960" y="1463040"/>
            <a:ext cx="379476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51960" y="1463040"/>
            <a:ext cx="73152" cy="51206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1463040"/>
            <a:ext cx="3721608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1472184"/>
            <a:ext cx="353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Techniques Applied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1847088"/>
            <a:ext cx="3520440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Classification: RandomForest, SVM, XGBoost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Clustering: KMeans + t-SNE dimensionality reduction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Cluster validation: Silhouette Score + Elbow Method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engineering: grades, attendance, aptitude scores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Ensemble learning for robust generalisation performance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0" y="1463040"/>
            <a:ext cx="3794760" cy="5120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0" y="1463040"/>
            <a:ext cx="73152" cy="51206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02752" y="1463040"/>
            <a:ext cx="3721608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1472184"/>
            <a:ext cx="353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Metrics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1847088"/>
            <a:ext cx="3520440" cy="4645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Accuracy, Precision, Recall, F1-Score per class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5-Fold Cross-Validation for model reliability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Silhouette Score for unsupervised cluster quality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Inertia curve (Elbow) for optimal k-selection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Confusion matrix for class-level performance analysis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Baseline Study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881360" y="0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Academic Decision-Support Platform  |  IT3811 Project Work  |  Zeroth Review  |  2025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11640312" cy="914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80467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Baseline Paper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024128"/>
            <a:ext cx="11274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"Early Predicting of Students Performance in Higher Education"  —  IEEE Xplore, 2023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13258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A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Method: ML classification using RandomForest &amp; SVM on admission scores and first-year course grades to predict GPA performance category.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3794760" cy="4663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874520"/>
            <a:ext cx="73152" cy="46634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1874520"/>
            <a:ext cx="3721608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883664"/>
            <a:ext cx="353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Algorithms Used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258568"/>
            <a:ext cx="3520440" cy="4187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RandomForestClassifier as primary ML model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SVM applied for comparative evaluation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t-SNE for dimensionality reduction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KMeans for behavioural group discovery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51960" y="1874520"/>
            <a:ext cx="3794760" cy="4663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51960" y="1874520"/>
            <a:ext cx="73152" cy="46634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25112" y="1874520"/>
            <a:ext cx="3721608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34840" y="1883664"/>
            <a:ext cx="353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Feature Set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34840" y="2258568"/>
            <a:ext cx="3520440" cy="4187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Admission scores: AAT and GAT tests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First-year course grades as early signals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GPA used as the target prediction variable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High-dimensional features compressed via t-SNE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0" y="1874520"/>
            <a:ext cx="3794760" cy="4663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0" y="1874520"/>
            <a:ext cx="73152" cy="46634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02752" y="1874520"/>
            <a:ext cx="3721608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1883664"/>
            <a:ext cx="353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0" y="2258568"/>
            <a:ext cx="3520440" cy="4187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GPA-level performance predicted from early data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failure risk identified in first semester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Distinct student behaviour groups discovered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 evaluated using standard classification metrics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of Existing IEEE Approach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881360" y="0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Academic Decision-Support Platform  |  IT3811 Project Work  |  Zeroth Review  | 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804672"/>
            <a:ext cx="11640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Critical Research Gaps Identified in the IEEE Baseline Study (2023)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1207008"/>
            <a:ext cx="571500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07008"/>
            <a:ext cx="73152" cy="12618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12801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only — no natural language explanation of ML decision rationale provided.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571500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560320"/>
            <a:ext cx="73152" cy="12618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2633472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personalised student advisory or targeted study intervention plan generated.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913632"/>
            <a:ext cx="571500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913632"/>
            <a:ext cx="73152" cy="12618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3986784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interactive teacher dashboard or institutional-level analytics view.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5266944"/>
            <a:ext cx="571500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5266944"/>
            <a:ext cx="73152" cy="12618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5340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" y="5340096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real-time or continuous at-risk monitoring capability provided.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1207008"/>
            <a:ext cx="571500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1207008"/>
            <a:ext cx="73152" cy="12618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9944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93992" y="128016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persistent storage — all prediction data lost on session termination.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2560320"/>
            <a:ext cx="571500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2560320"/>
            <a:ext cx="73152" cy="12618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9944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93992" y="2633472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batch CSV processing; only individual manual student input supported.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3913632"/>
            <a:ext cx="571500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63640" y="3913632"/>
            <a:ext cx="73152" cy="12618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9944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793992" y="3986784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Cluster count k is arbitrary — no mathematical or statistical validation.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63640" y="5266944"/>
            <a:ext cx="5715000" cy="12618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63640" y="5266944"/>
            <a:ext cx="73152" cy="12618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9944" y="5340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793992" y="5340096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teacher-interpretable plain-English cluster context or insights provided.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AI Decision-Support Platform — High-Level Concept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881360" y="0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Academic Decision-Support Platform  |  IT3811 Project Work  |  Zeroth Review  |  2025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3767328" cy="2816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04672"/>
            <a:ext cx="3767328" cy="43891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0467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71600" y="804672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Input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243584"/>
            <a:ext cx="73152" cy="23774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316736"/>
            <a:ext cx="3520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enters attendance %, internal marks, assignments, study hours — or uploads a batch CSV for the entire class.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24528" y="804672"/>
            <a:ext cx="3767328" cy="2816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24528" y="804672"/>
            <a:ext cx="3767328" cy="43891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80467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02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21808" y="804672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Prediction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24528" y="1243584"/>
            <a:ext cx="73152" cy="23774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1316736"/>
            <a:ext cx="3520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RandomForestClassifier (200 trees) classifies each student as Good / Average / At-Risk with calibrated probability scores.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74736" y="804672"/>
            <a:ext cx="3767328" cy="2816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74736" y="804672"/>
            <a:ext cx="3767328" cy="43891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66176" y="80467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03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72016" y="804672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Explanation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74736" y="1243584"/>
            <a:ext cx="73152" cy="23774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1316736"/>
            <a:ext cx="3520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Gemini 2.5 Flash generates a 4-section advisory: explanation, risk factors, priority action plan, and 7-day study schedule.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840480"/>
            <a:ext cx="3767328" cy="2816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840480"/>
            <a:ext cx="3767328" cy="43891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8404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04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371600" y="3840480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Persistent Storage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279392"/>
            <a:ext cx="73152" cy="23774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4352544"/>
            <a:ext cx="3520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prediction stored in SQLite — full audit trail surviving server restarts, queryable and exportable for records.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24528" y="3840480"/>
            <a:ext cx="3767328" cy="2816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24528" y="3840480"/>
            <a:ext cx="3767328" cy="43891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15968" y="38404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05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21808" y="3840480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 Monitoring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224528" y="4279392"/>
            <a:ext cx="73152" cy="23774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0" y="4352544"/>
            <a:ext cx="3520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detects consecutive At-Risk flags and surfaces real-time alerts ensuring no at-risk student is overlooked.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74736" y="3840480"/>
            <a:ext cx="3767328" cy="2816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74736" y="3840480"/>
            <a:ext cx="3767328" cy="43891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66176" y="38404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06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272016" y="3840480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Behaviour Clustering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74736" y="4279392"/>
            <a:ext cx="73152" cy="23774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39328" y="4352544"/>
            <a:ext cx="3520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t-SNE + KMeans with auto-selected k via Silhouette Score sweep (k=2..8) and plain-English teacher cluster insights.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Innovation &amp; Contribution to Field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881360" y="0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Academic Decision-Support Platform  |  IT3811 Project Work  |  Zeroth Review  |  2025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5303520" cy="38404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0467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IEEE Baseline (Existing)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50992" y="804672"/>
            <a:ext cx="886968" cy="384048"/>
          </a:xfrm>
          <a:prstGeom prst="rect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50992" y="804672"/>
            <a:ext cx="886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1112" y="804672"/>
            <a:ext cx="5303520" cy="38404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80467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Platform (Proposed)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1261872"/>
            <a:ext cx="5303520" cy="941832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261872"/>
            <a:ext cx="64008" cy="9418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325880"/>
            <a:ext cx="5010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prediction label output only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11112" y="1261872"/>
            <a:ext cx="5303520" cy="941832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11112" y="1261872"/>
            <a:ext cx="64008" cy="9418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1325880"/>
            <a:ext cx="5010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ML prediction + Gemini AI natural language explanation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286000"/>
            <a:ext cx="5303520" cy="941832"/>
          </a:xfrm>
          <a:prstGeom prst="rect">
            <a:avLst/>
          </a:prstGeom>
          <a:solidFill>
            <a:srgbClr val="F4F6FA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286000"/>
            <a:ext cx="64008" cy="9418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350008"/>
            <a:ext cx="5010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advisory or study plan generated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11112" y="2286000"/>
            <a:ext cx="5303520" cy="941832"/>
          </a:xfrm>
          <a:prstGeom prst="rect">
            <a:avLst/>
          </a:prstGeom>
          <a:solidFill>
            <a:srgbClr val="F4F6FA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11112" y="2286000"/>
            <a:ext cx="64008" cy="9418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2350008"/>
            <a:ext cx="5010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Personalised 4-section advisory per student via Gemini AI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3310128"/>
            <a:ext cx="5303520" cy="941832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310128"/>
            <a:ext cx="64008" cy="9418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374136"/>
            <a:ext cx="5010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Static one-off single-student execution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11112" y="3310128"/>
            <a:ext cx="5303520" cy="941832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11112" y="3310128"/>
            <a:ext cx="64008" cy="9418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4848" y="3374136"/>
            <a:ext cx="5010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Continuous monitoring with consecutive at-risk alert detection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334256"/>
            <a:ext cx="5303520" cy="941832"/>
          </a:xfrm>
          <a:prstGeom prst="rect">
            <a:avLst/>
          </a:prstGeom>
          <a:solidFill>
            <a:srgbClr val="F4F6FA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334256"/>
            <a:ext cx="64008" cy="9418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398264"/>
            <a:ext cx="5010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data persistence across sessions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611112" y="4334256"/>
            <a:ext cx="5303520" cy="941832"/>
          </a:xfrm>
          <a:prstGeom prst="rect">
            <a:avLst/>
          </a:prstGeom>
          <a:solidFill>
            <a:srgbClr val="F4F6FA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11112" y="4334256"/>
            <a:ext cx="64008" cy="9418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84848" y="4398264"/>
            <a:ext cx="5010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SQLite audit trail — data survives server restart, exportable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4320" y="5358384"/>
            <a:ext cx="5303520" cy="941832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5358384"/>
            <a:ext cx="64008" cy="9418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5422392"/>
            <a:ext cx="5010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Cluster count k chosen arbitrarily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11112" y="5358384"/>
            <a:ext cx="5303520" cy="941832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11112" y="5358384"/>
            <a:ext cx="64008" cy="9418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84848" y="5422392"/>
            <a:ext cx="50109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Silhouette Score + Elbow Method auto-selects optimal k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6382512"/>
            <a:ext cx="11640312" cy="3200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6382512"/>
            <a:ext cx="11640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Accuracy: 89.45% Test Accuracy  |  89.33% 5-Fold Cross-Validation  |  Dataset: 10,000 rows (3% Noise)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Academic Impact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881360" y="0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Academic Decision-Support Platform  |  IT3811 Project Work  |  Zeroth Review  |  2025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2816352" cy="10058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82296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89.45%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137160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Classification Accuracy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73552" y="804672"/>
            <a:ext cx="2816352" cy="10058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73552" y="82296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10,000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73552" y="137160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Synthetic Training Dataset Rows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72784" y="804672"/>
            <a:ext cx="2816352" cy="10058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72784" y="82296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k=2..8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72784" y="137160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Cluster Validation Sweep Range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72016" y="804672"/>
            <a:ext cx="2816352" cy="10058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72016" y="82296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5-Fold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272016" y="137160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Cross-Validation Protocol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1965960"/>
            <a:ext cx="5715000" cy="4617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1965960"/>
            <a:ext cx="73152" cy="46177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1965960"/>
            <a:ext cx="5641848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975104"/>
            <a:ext cx="5458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Contributions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2350008"/>
            <a:ext cx="5440680" cy="4142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Extends IEEE EDM baseline into a full AI platform architecture.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Introduces LLM-powered XAI layer in academic prediction systems.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Dual-metric cluster validation provides mathematical justification.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Advisory caching demonstrates scalable AI deployment pattern.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Synthetic dataset with noise advances reproducible EDM benchmarking.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99632" y="1965960"/>
            <a:ext cx="5715000" cy="4617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99632" y="1965960"/>
            <a:ext cx="73152" cy="46177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2784" y="1965960"/>
            <a:ext cx="5641848" cy="34747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1975104"/>
            <a:ext cx="5458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Institutional Value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82512" y="2350008"/>
            <a:ext cx="5440680" cy="4142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Enables proactive intervention before academic failure occurs.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dashboard eliminates manual student-by-student analysis.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CSV processing supports class-scale institutional workflows.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Persistent audit trail ensures data governance and accountability.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Scalable architecture replicable across higher education institutions.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881360" y="0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A8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/ 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11640312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22960"/>
            <a:ext cx="73152" cy="7132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11384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 Al-Shabandar, R., et al., "Early Predicting of Students Performance in Higher Education," IEEE Xplore, 2023.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11640312" cy="713232"/>
          </a:xfrm>
          <a:prstGeom prst="rect">
            <a:avLst/>
          </a:prstGeom>
          <a:solidFill>
            <a:srgbClr val="F4F6FA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27632"/>
            <a:ext cx="73152" cy="7132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673352"/>
            <a:ext cx="11384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 Romero, C. &amp; Ventura, S., "Educational Data Mining: A Review of the State of the Art," IEEE TSMC, vol. 40, 2010.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32304"/>
            <a:ext cx="11640312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432304"/>
            <a:ext cx="73152" cy="7132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78024"/>
            <a:ext cx="11384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 Breiman, L., "Random Forests," Machine Learning, vol. 45, pp. 5–32, Springer, 2001.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236976"/>
            <a:ext cx="11640312" cy="713232"/>
          </a:xfrm>
          <a:prstGeom prst="rect">
            <a:avLst/>
          </a:prstGeom>
          <a:solidFill>
            <a:srgbClr val="F4F6FA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236976"/>
            <a:ext cx="73152" cy="7132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82696"/>
            <a:ext cx="11384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 van der Maaten, L. &amp; Hinton, G., "Visualizing Data Using t-SNE," JMLR, vol. 9, pp. 2579–2605, 2008.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041648"/>
            <a:ext cx="11640312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041648"/>
            <a:ext cx="73152" cy="7132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87368"/>
            <a:ext cx="11384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 Rousseeuw, P.J., "Silhouettes: A Graphical Aid for Cluster Validity," J. Comput. Appl. Math., vol. 20, 1987.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846320"/>
            <a:ext cx="11640312" cy="713232"/>
          </a:xfrm>
          <a:prstGeom prst="rect">
            <a:avLst/>
          </a:prstGeom>
          <a:solidFill>
            <a:srgbClr val="F4F6FA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846320"/>
            <a:ext cx="73152" cy="7132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92040"/>
            <a:ext cx="11384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 Ribeiro, M.T., et al., "Why Should I Trust You? Explaining ML Classifier Predictions," ACM KDD, 2016.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5650992"/>
            <a:ext cx="11640312" cy="713232"/>
          </a:xfrm>
          <a:prstGeom prst="rect">
            <a:avLst/>
          </a:prstGeom>
          <a:solidFill>
            <a:srgbClr val="FFFFFF"/>
          </a:solidFill>
          <a:ln w="8890">
            <a:solidFill>
              <a:srgbClr val="D0D5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5650992"/>
            <a:ext cx="73152" cy="7132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696712"/>
            <a:ext cx="11384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 Google Gemini Team, "Gemini 2.5: Multimodal AI with Advanced Reasoning," Google DeepMind, 2024.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Academic Decision-Support Platform  |  IT3811 Project Work  |  Zeroth Review  | 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2026-02-28T20:38:35Z</dcterms:created>
  <dcterms:modified xsi:type="dcterms:W3CDTF">2026-02-28T20:38:35Z</dcterms:modified>
</cp:coreProperties>
</file>