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73152"/>
            <a:ext cx="914400" cy="914400"/>
          </a:xfrm>
          <a:prstGeom prst="rect">
            <a:avLst/>
          </a:prstGeom>
        </p:spPr>
      </p:pic>
      <p:sp>
        <p:nvSpPr>
          <p:cNvPr id="3" name="Text 0"/>
          <p:cNvSpPr/>
          <p:nvPr/>
        </p:nvSpPr>
        <p:spPr>
          <a:xfrm>
            <a:off x="1280160" y="73152"/>
            <a:ext cx="6583680" cy="475488"/>
          </a:xfrm>
          <a:prstGeom prst="rect">
            <a:avLst/>
          </a:prstGeom>
          <a:noFill/>
          <a:ln/>
        </p:spPr>
        <p:txBody>
          <a:bodyPr wrap="square" rtlCol="0" anchor="ctr"/>
          <a:lstStyle/>
          <a:p>
            <a:pPr algn="ctr" indent="0" marL="0">
              <a:buNone/>
            </a:pPr>
            <a:r>
              <a:rPr lang="en-US" sz="2800" b="1" dirty="0">
                <a:solidFill>
                  <a:srgbClr val="0D2D6B"/>
                </a:solidFill>
                <a:latin typeface="Calibri" pitchFamily="34" charset="0"/>
                <a:ea typeface="Calibri" pitchFamily="34" charset="-122"/>
                <a:cs typeface="Calibri" pitchFamily="34" charset="-120"/>
              </a:rPr>
              <a:t>SKP ENGINEERING COLLEGE</a:t>
            </a:r>
            <a:endParaRPr lang="en-US" sz="2800" dirty="0"/>
          </a:p>
        </p:txBody>
      </p:sp>
      <p:sp>
        <p:nvSpPr>
          <p:cNvPr id="4" name="Text 1"/>
          <p:cNvSpPr/>
          <p:nvPr/>
        </p:nvSpPr>
        <p:spPr>
          <a:xfrm>
            <a:off x="1280160" y="548640"/>
            <a:ext cx="6583680" cy="457200"/>
          </a:xfrm>
          <a:prstGeom prst="rect">
            <a:avLst/>
          </a:prstGeom>
          <a:noFill/>
          <a:ln/>
        </p:spPr>
        <p:txBody>
          <a:bodyPr wrap="square" rtlCol="0" anchor="ctr"/>
          <a:lstStyle/>
          <a:p>
            <a:pPr algn="ctr" indent="0" marL="0">
              <a:buNone/>
            </a:pPr>
            <a:r>
              <a:rPr lang="en-US" sz="1000" dirty="0">
                <a:solidFill>
                  <a:srgbClr val="333333"/>
                </a:solidFill>
                <a:latin typeface="Calibri" pitchFamily="34" charset="0"/>
                <a:ea typeface="Calibri" pitchFamily="34" charset="-122"/>
                <a:cs typeface="Calibri" pitchFamily="34" charset="-120"/>
              </a:rPr>
              <a:t>Approved by AICTE New Delhi  |  Affiliated to Anna University - Chennai</a:t>
            </a:r>
            <a:endParaRPr lang="en-US" sz="1000" dirty="0"/>
          </a:p>
          <a:p>
            <a:pPr algn="ctr" indent="0" marL="0">
              <a:buNone/>
            </a:pPr>
            <a:r>
              <a:rPr lang="en-US" sz="1000" dirty="0">
                <a:solidFill>
                  <a:srgbClr val="333333"/>
                </a:solidFill>
                <a:latin typeface="Calibri" pitchFamily="34" charset="0"/>
                <a:ea typeface="Calibri" pitchFamily="34" charset="-122"/>
                <a:cs typeface="Calibri" pitchFamily="34" charset="-120"/>
              </a:rPr>
              <a:t>Tiruvannamalai, Tamil Nadu  |  Phone: +91-4175-252633  |  +91-9443105139</a:t>
            </a:r>
            <a:endParaRPr lang="en-US" sz="1000" dirty="0"/>
          </a:p>
        </p:txBody>
      </p:sp>
      <p:pic>
        <p:nvPicPr>
          <p:cNvPr id="5" name="Image 1" descr="preencoded.png">    </p:cNvPr>
          <p:cNvPicPr>
            <a:picLocks noChangeAspect="1"/>
          </p:cNvPicPr>
          <p:nvPr/>
        </p:nvPicPr>
        <p:blipFill>
          <a:blip r:embed="rId2"/>
          <a:stretch>
            <a:fillRect/>
          </a:stretch>
        </p:blipFill>
        <p:spPr>
          <a:xfrm>
            <a:off x="8001000" y="73152"/>
            <a:ext cx="914400" cy="914400"/>
          </a:xfrm>
          <a:prstGeom prst="rect">
            <a:avLst/>
          </a:prstGeom>
        </p:spPr>
      </p:pic>
      <p:sp>
        <p:nvSpPr>
          <p:cNvPr id="6" name="Shape 2"/>
          <p:cNvSpPr/>
          <p:nvPr/>
        </p:nvSpPr>
        <p:spPr>
          <a:xfrm>
            <a:off x="228600" y="1033272"/>
            <a:ext cx="8686800" cy="27432"/>
          </a:xfrm>
          <a:prstGeom prst="rect">
            <a:avLst/>
          </a:prstGeom>
          <a:solidFill>
            <a:srgbClr val="333333"/>
          </a:solidFill>
          <a:ln w="12700">
            <a:solidFill>
              <a:srgbClr val="333333"/>
            </a:solidFill>
            <a:prstDash val="solid"/>
          </a:ln>
        </p:spPr>
      </p:sp>
      <p:sp>
        <p:nvSpPr>
          <p:cNvPr id="7" name="Text 3"/>
          <p:cNvSpPr/>
          <p:nvPr/>
        </p:nvSpPr>
        <p:spPr>
          <a:xfrm>
            <a:off x="457200" y="1115568"/>
            <a:ext cx="8229600" cy="301752"/>
          </a:xfrm>
          <a:prstGeom prst="rect">
            <a:avLst/>
          </a:prstGeom>
          <a:noFill/>
          <a:ln/>
        </p:spPr>
        <p:txBody>
          <a:bodyPr wrap="square"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DEPARTMENT OF INFORMATION TECHNOLOGY</a:t>
            </a:r>
            <a:endParaRPr lang="en-US" sz="1400" dirty="0"/>
          </a:p>
        </p:txBody>
      </p:sp>
      <p:sp>
        <p:nvSpPr>
          <p:cNvPr id="8" name="Text 4"/>
          <p:cNvSpPr/>
          <p:nvPr/>
        </p:nvSpPr>
        <p:spPr>
          <a:xfrm>
            <a:off x="457200" y="1399032"/>
            <a:ext cx="8229600" cy="256032"/>
          </a:xfrm>
          <a:prstGeom prst="rect">
            <a:avLst/>
          </a:prstGeom>
          <a:noFill/>
          <a:ln/>
        </p:spPr>
        <p:txBody>
          <a:bodyPr wrap="square" rtlCol="0" anchor="ctr"/>
          <a:lstStyle/>
          <a:p>
            <a:pPr algn="ctr" indent="0" marL="0">
              <a:buNone/>
            </a:pPr>
            <a:r>
              <a:rPr lang="en-US" sz="1300" dirty="0">
                <a:solidFill>
                  <a:srgbClr val="000000"/>
                </a:solidFill>
                <a:latin typeface="Calibri" pitchFamily="34" charset="0"/>
                <a:ea typeface="Calibri" pitchFamily="34" charset="-122"/>
                <a:cs typeface="Calibri" pitchFamily="34" charset="-120"/>
              </a:rPr>
              <a:t>IT3811- Project work</a:t>
            </a:r>
            <a:endParaRPr lang="en-US" sz="1300" dirty="0"/>
          </a:p>
        </p:txBody>
      </p:sp>
      <p:sp>
        <p:nvSpPr>
          <p:cNvPr id="9" name="Text 5"/>
          <p:cNvSpPr/>
          <p:nvPr/>
        </p:nvSpPr>
        <p:spPr>
          <a:xfrm>
            <a:off x="457200" y="1636776"/>
            <a:ext cx="8229600" cy="274320"/>
          </a:xfrm>
          <a:prstGeom prst="rect">
            <a:avLst/>
          </a:prstGeom>
          <a:noFill/>
          <a:ln/>
        </p:spPr>
        <p:txBody>
          <a:bodyPr wrap="square"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First Review</a:t>
            </a:r>
            <a:endParaRPr lang="en-US" sz="1300" dirty="0"/>
          </a:p>
        </p:txBody>
      </p:sp>
      <p:sp>
        <p:nvSpPr>
          <p:cNvPr id="10" name="Text 6"/>
          <p:cNvSpPr/>
          <p:nvPr/>
        </p:nvSpPr>
        <p:spPr>
          <a:xfrm>
            <a:off x="457200" y="1965960"/>
            <a:ext cx="8229600" cy="777240"/>
          </a:xfrm>
          <a:prstGeom prst="rect">
            <a:avLst/>
          </a:prstGeom>
          <a:noFill/>
          <a:ln/>
        </p:spPr>
        <p:txBody>
          <a:bodyPr wrap="square" rtlCol="0" anchor="ctr"/>
          <a:lstStyle/>
          <a:p>
            <a:pPr algn="ctr" indent="0" marL="0">
              <a:buNone/>
            </a:pPr>
            <a:r>
              <a:rPr lang="en-US" sz="2200" b="1" dirty="0">
                <a:solidFill>
                  <a:srgbClr val="000000"/>
                </a:solidFill>
                <a:latin typeface="Calibri" pitchFamily="34" charset="0"/>
                <a:ea typeface="Calibri" pitchFamily="34" charset="-122"/>
                <a:cs typeface="Calibri" pitchFamily="34" charset="-120"/>
              </a:rPr>
              <a:t>AI-Powered Student Performance Prediction Platform</a:t>
            </a:r>
            <a:endParaRPr lang="en-US" sz="2200" dirty="0"/>
          </a:p>
        </p:txBody>
      </p:sp>
      <p:sp>
        <p:nvSpPr>
          <p:cNvPr id="11" name="Text 7"/>
          <p:cNvSpPr/>
          <p:nvPr/>
        </p:nvSpPr>
        <p:spPr>
          <a:xfrm>
            <a:off x="2286000" y="2816352"/>
            <a:ext cx="4572000" cy="256032"/>
          </a:xfrm>
          <a:prstGeom prst="rect">
            <a:avLst/>
          </a:prstGeom>
          <a:noFill/>
          <a:ln/>
        </p:spPr>
        <p:txBody>
          <a:bodyPr wrap="square" rtlCol="0" anchor="ctr"/>
          <a:lstStyle/>
          <a:p>
            <a:pPr algn="ctr" indent="0" marL="0">
              <a:buNone/>
            </a:pPr>
            <a:r>
              <a:rPr lang="en-US" sz="1200" i="1" dirty="0">
                <a:solidFill>
                  <a:srgbClr val="000000"/>
                </a:solidFill>
                <a:latin typeface="Calibri" pitchFamily="34" charset="0"/>
                <a:ea typeface="Calibri" pitchFamily="34" charset="-122"/>
                <a:cs typeface="Calibri" pitchFamily="34" charset="-120"/>
              </a:rPr>
              <a:t>Submitted by</a:t>
            </a:r>
            <a:endParaRPr lang="en-US" sz="1200" dirty="0"/>
          </a:p>
        </p:txBody>
      </p:sp>
      <p:sp>
        <p:nvSpPr>
          <p:cNvPr id="12" name="Text 8"/>
          <p:cNvSpPr/>
          <p:nvPr/>
        </p:nvSpPr>
        <p:spPr>
          <a:xfrm>
            <a:off x="2286000" y="3072384"/>
            <a:ext cx="4572000" cy="274320"/>
          </a:xfrm>
          <a:prstGeom prst="rect">
            <a:avLst/>
          </a:prstGeom>
          <a:noFill/>
          <a:ln/>
        </p:spPr>
        <p:txBody>
          <a:bodyPr wrap="square"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Dhanalakshmi . E      (512222205009)</a:t>
            </a:r>
            <a:endParaRPr lang="en-US" sz="1300" dirty="0"/>
          </a:p>
        </p:txBody>
      </p:sp>
      <p:sp>
        <p:nvSpPr>
          <p:cNvPr id="13" name="Text 9"/>
          <p:cNvSpPr/>
          <p:nvPr/>
        </p:nvSpPr>
        <p:spPr>
          <a:xfrm>
            <a:off x="2286000" y="3346704"/>
            <a:ext cx="4572000" cy="274320"/>
          </a:xfrm>
          <a:prstGeom prst="rect">
            <a:avLst/>
          </a:prstGeom>
          <a:noFill/>
          <a:ln/>
        </p:spPr>
        <p:txBody>
          <a:bodyPr wrap="square"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Thangam . M      (512222205045)</a:t>
            </a:r>
            <a:endParaRPr lang="en-US" sz="1300" dirty="0"/>
          </a:p>
        </p:txBody>
      </p:sp>
      <p:sp>
        <p:nvSpPr>
          <p:cNvPr id="14" name="Text 10"/>
          <p:cNvSpPr/>
          <p:nvPr/>
        </p:nvSpPr>
        <p:spPr>
          <a:xfrm>
            <a:off x="2286000" y="3621024"/>
            <a:ext cx="4572000" cy="274320"/>
          </a:xfrm>
          <a:prstGeom prst="rect">
            <a:avLst/>
          </a:prstGeom>
          <a:noFill/>
          <a:ln/>
        </p:spPr>
        <p:txBody>
          <a:bodyPr wrap="square"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Poornima . K      (512222205032)</a:t>
            </a:r>
            <a:endParaRPr lang="en-US" sz="1300" dirty="0"/>
          </a:p>
        </p:txBody>
      </p:sp>
      <p:sp>
        <p:nvSpPr>
          <p:cNvPr id="15" name="Text 11"/>
          <p:cNvSpPr/>
          <p:nvPr/>
        </p:nvSpPr>
        <p:spPr>
          <a:xfrm>
            <a:off x="2286000" y="3895344"/>
            <a:ext cx="4572000" cy="274320"/>
          </a:xfrm>
          <a:prstGeom prst="rect">
            <a:avLst/>
          </a:prstGeom>
          <a:noFill/>
          <a:ln/>
        </p:spPr>
        <p:txBody>
          <a:bodyPr wrap="square"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Hemamalini . S      (512222205017)</a:t>
            </a:r>
            <a:endParaRPr lang="en-US" sz="1300" dirty="0"/>
          </a:p>
        </p:txBody>
      </p:sp>
      <p:sp>
        <p:nvSpPr>
          <p:cNvPr id="16" name="Text 12"/>
          <p:cNvSpPr/>
          <p:nvPr/>
        </p:nvSpPr>
        <p:spPr>
          <a:xfrm>
            <a:off x="2743200" y="4224528"/>
            <a:ext cx="3657600" cy="246888"/>
          </a:xfrm>
          <a:prstGeom prst="rect">
            <a:avLst/>
          </a:prstGeom>
          <a:noFill/>
          <a:ln/>
        </p:spPr>
        <p:txBody>
          <a:bodyPr wrap="square" rtlCol="0" anchor="ctr"/>
          <a:lstStyle/>
          <a:p>
            <a:pPr algn="ctr" indent="0" marL="0">
              <a:buNone/>
            </a:pPr>
            <a:r>
              <a:rPr lang="en-US" sz="1200" b="1" u="sng" dirty="0">
                <a:solidFill>
                  <a:srgbClr val="000000"/>
                </a:solidFill>
                <a:latin typeface="Calibri" pitchFamily="34" charset="0"/>
                <a:ea typeface="Calibri" pitchFamily="34" charset="-122"/>
                <a:cs typeface="Calibri" pitchFamily="34" charset="-120"/>
              </a:rPr>
              <a:t>FACULTY GUIDE</a:t>
            </a:r>
            <a:endParaRPr lang="en-US" sz="1200" dirty="0"/>
          </a:p>
        </p:txBody>
      </p:sp>
      <p:sp>
        <p:nvSpPr>
          <p:cNvPr id="17" name="Text 13"/>
          <p:cNvSpPr/>
          <p:nvPr/>
        </p:nvSpPr>
        <p:spPr>
          <a:xfrm>
            <a:off x="2743200" y="4462272"/>
            <a:ext cx="3657600" cy="32004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Ms.R.Anusha devi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Abstract</a:t>
            </a:r>
            <a:endParaRPr lang="en-US" sz="2800" dirty="0"/>
          </a:p>
        </p:txBody>
      </p:sp>
      <p:sp>
        <p:nvSpPr>
          <p:cNvPr id="4" name="Text 2"/>
          <p:cNvSpPr/>
          <p:nvPr/>
        </p:nvSpPr>
        <p:spPr>
          <a:xfrm>
            <a:off x="457200" y="960120"/>
            <a:ext cx="8229600" cy="3977640"/>
          </a:xfrm>
          <a:prstGeom prst="rect">
            <a:avLst/>
          </a:prstGeom>
          <a:noFill/>
          <a:ln/>
        </p:spPr>
        <p:txBody>
          <a:bodyPr wrap="square" rtlCol="0" anchor="t"/>
          <a:lstStyle/>
          <a:p>
            <a:pPr algn="just" indent="0" marL="0">
              <a:spcAft>
                <a:spcPts val="600"/>
              </a:spcAft>
              <a:buNone/>
            </a:pPr>
            <a:r>
              <a:rPr lang="en-US" sz="1450" dirty="0">
                <a:solidFill>
                  <a:srgbClr val="000000"/>
                </a:solidFill>
                <a:latin typeface="Calibri" pitchFamily="34" charset="0"/>
                <a:ea typeface="Calibri" pitchFamily="34" charset="-122"/>
                <a:cs typeface="Calibri" pitchFamily="34" charset="-120"/>
              </a:rPr>
              <a:t>Academic institutions struggle to identify at-risk students proactively, often recognising failure only after the fact. This project presents an AI-Powered Student Performance Prediction Platform that elevates the IEEE baseline (RandomForest/SVM) into a complete institutional decision-support system. A RandomForestClassifier trained on 10,000 student records classifies performance into Good, Average, or At Risk categories with 89.45% accuracy. Google Gemini 2.5 Flash enriches each prediction with a 4-section personalised advisory — explanation, risk factors, action plan, and a 7-day study schedule. An SHA-256 advisory caching system ensures instant repeat predictions, while a 4-key Gemini rotation eliminates rate-limit failures. The platform further provides a teacher analytics dashboard, consecutive At-Risk alert detection, async batch CSV processing, class rankings leaderboard, student progress timelines, and mathematically validated behaviour clustering using t-SNE and KMeans with automatic optimal cluster selection via Elbow Method and Silhouette Score analysis.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Aim and Objective</a:t>
            </a:r>
            <a:endParaRPr lang="en-US" sz="2800" dirty="0"/>
          </a:p>
        </p:txBody>
      </p:sp>
      <p:sp>
        <p:nvSpPr>
          <p:cNvPr id="4" name="Text 2"/>
          <p:cNvSpPr/>
          <p:nvPr/>
        </p:nvSpPr>
        <p:spPr>
          <a:xfrm>
            <a:off x="457200" y="960120"/>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Aim</a:t>
            </a:r>
            <a:endParaRPr lang="en-US" sz="1600" dirty="0"/>
          </a:p>
        </p:txBody>
      </p:sp>
      <p:sp>
        <p:nvSpPr>
          <p:cNvPr id="5" name="Text 3"/>
          <p:cNvSpPr/>
          <p:nvPr/>
        </p:nvSpPr>
        <p:spPr>
          <a:xfrm>
            <a:off x="457200" y="1280160"/>
            <a:ext cx="8229600" cy="502920"/>
          </a:xfrm>
          <a:prstGeom prst="rect">
            <a:avLst/>
          </a:prstGeom>
          <a:noFill/>
          <a:ln/>
        </p:spPr>
        <p:txBody>
          <a:bodyPr wrap="square" rtlCol="0" anchor="ctr"/>
          <a:lstStyle/>
          <a:p>
            <a:pPr algn="just" indent="0" marL="0">
              <a:buNone/>
            </a:pPr>
            <a:r>
              <a:rPr lang="en-US" sz="1400" dirty="0">
                <a:solidFill>
                  <a:srgbClr val="000000"/>
                </a:solidFill>
                <a:latin typeface="Calibri" pitchFamily="34" charset="0"/>
                <a:ea typeface="Calibri" pitchFamily="34" charset="-122"/>
                <a:cs typeface="Calibri" pitchFamily="34" charset="-120"/>
              </a:rPr>
              <a:t>To develop an AI-powered academic decision-support platform that predicts student performance using IEEE-validated ML models, explains outcomes via Generative AI, provides personalised interventions, and supports continuous institutional monitoring at scale.</a:t>
            </a:r>
            <a:endParaRPr lang="en-US" sz="1400" dirty="0"/>
          </a:p>
        </p:txBody>
      </p:sp>
      <p:sp>
        <p:nvSpPr>
          <p:cNvPr id="6" name="Text 4"/>
          <p:cNvSpPr/>
          <p:nvPr/>
        </p:nvSpPr>
        <p:spPr>
          <a:xfrm>
            <a:off x="457200" y="1847088"/>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Objective</a:t>
            </a:r>
            <a:endParaRPr lang="en-US" sz="1600" dirty="0"/>
          </a:p>
        </p:txBody>
      </p:sp>
      <p:sp>
        <p:nvSpPr>
          <p:cNvPr id="7" name="Text 5"/>
          <p:cNvSpPr/>
          <p:nvPr/>
        </p:nvSpPr>
        <p:spPr>
          <a:xfrm>
            <a:off x="457200" y="2212848"/>
            <a:ext cx="8229600" cy="2743200"/>
          </a:xfrm>
          <a:prstGeom prst="rect">
            <a:avLst/>
          </a:prstGeom>
          <a:noFill/>
          <a:ln/>
        </p:spPr>
        <p:txBody>
          <a:bodyPr wrap="square" rtlCol="0" anchor="t"/>
          <a:lstStyle/>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Train and deploy a RandomForestClassifier achieving ≥89% accuracy on student performance data.</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Generate AI-only 4-section advisories via Gemini 2.5 Flash with 4-key rotation architecture.</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Implement SHA-256 advisory caching for sub-second repeat predictions without AI re-calls.</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Build a teacher analytics dashboard with At-Risk alerts, rankings, and progress timelines.</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Perform mathematically validated behaviour clustering using t-SNE, KMeans, and Silhouette Score.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Scope of The Project</a:t>
            </a:r>
            <a:endParaRPr lang="en-US" sz="2800" dirty="0"/>
          </a:p>
        </p:txBody>
      </p:sp>
      <p:sp>
        <p:nvSpPr>
          <p:cNvPr id="4" name="Text 2"/>
          <p:cNvSpPr/>
          <p:nvPr/>
        </p:nvSpPr>
        <p:spPr>
          <a:xfrm>
            <a:off x="457200" y="960120"/>
            <a:ext cx="8229600" cy="4023360"/>
          </a:xfrm>
          <a:prstGeom prst="rect">
            <a:avLst/>
          </a:prstGeom>
          <a:noFill/>
          <a:ln/>
        </p:spPr>
        <p:txBody>
          <a:bodyPr wrap="square" rtlCol="0" anchor="t"/>
          <a:lstStyle/>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buNone/>
            </a:pPr>
            <a:r>
              <a:rPr lang="en-US" sz="1400" b="1" dirty="0">
                <a:solidFill>
                  <a:srgbClr val="1565C0"/>
                </a:solidFill>
                <a:latin typeface="Calibri" pitchFamily="34" charset="0"/>
                <a:ea typeface="Calibri" pitchFamily="34" charset="-122"/>
                <a:cs typeface="Calibri" pitchFamily="34" charset="-120"/>
              </a:rPr>
              <a:t>Proactive At-Risk Detection</a:t>
            </a:r>
            <a:pPr indent="0" marL="0">
              <a:spcAft>
                <a:spcPts val="600"/>
              </a:spcAft>
              <a:buNone/>
            </a:pPr>
            <a:endParaRPr lang="en-US" sz="14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    Continuously monitors student metrics — attendance, internal marks, assignment score, study hours — and classifies performance before failure occurs.</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buNone/>
            </a:pPr>
            <a:r>
              <a:rPr lang="en-US" sz="1400" b="1" dirty="0">
                <a:solidFill>
                  <a:srgbClr val="1565C0"/>
                </a:solidFill>
                <a:latin typeface="Calibri" pitchFamily="34" charset="0"/>
                <a:ea typeface="Calibri" pitchFamily="34" charset="-122"/>
                <a:cs typeface="Calibri" pitchFamily="34" charset="-120"/>
              </a:rPr>
              <a:t>AI-Powered Personalised Advisory</a:t>
            </a:r>
            <a:pPr indent="0" marL="0">
              <a:spcAft>
                <a:spcPts val="600"/>
              </a:spcAft>
              <a:buNone/>
            </a:pPr>
            <a:endParaRPr lang="en-US" sz="14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    Gemini 2.5 Flash generates a unique 4-section advisory for each student: explanation, risk factors, action plan, and 7-day study schedule — no generic responses.</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buNone/>
            </a:pPr>
            <a:r>
              <a:rPr lang="en-US" sz="1400" b="1" dirty="0">
                <a:solidFill>
                  <a:srgbClr val="1565C0"/>
                </a:solidFill>
                <a:latin typeface="Calibri" pitchFamily="34" charset="0"/>
                <a:ea typeface="Calibri" pitchFamily="34" charset="-122"/>
                <a:cs typeface="Calibri" pitchFamily="34" charset="-120"/>
              </a:rPr>
              <a:t>Advisory Caching Architecture</a:t>
            </a:r>
            <a:pPr indent="0" marL="0">
              <a:spcAft>
                <a:spcPts val="600"/>
              </a:spcAft>
              <a:buNone/>
            </a:pPr>
            <a:endParaRPr lang="en-US" sz="14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    Every AI advisory is cached by student ID and metrics hash (SHA-256). Repeat predictions return in ~400 ms, eliminating redundant AI API calls.</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buNone/>
            </a:pPr>
            <a:r>
              <a:rPr lang="en-US" sz="1400" b="1" dirty="0">
                <a:solidFill>
                  <a:srgbClr val="1565C0"/>
                </a:solidFill>
                <a:latin typeface="Calibri" pitchFamily="34" charset="0"/>
                <a:ea typeface="Calibri" pitchFamily="34" charset="-122"/>
                <a:cs typeface="Calibri" pitchFamily="34" charset="-120"/>
              </a:rPr>
              <a:t>Scalable Institutional Deployment</a:t>
            </a:r>
            <a:pPr indent="0" marL="0">
              <a:spcAft>
                <a:spcPts val="600"/>
              </a:spcAft>
              <a:buNone/>
            </a:pPr>
            <a:endParaRPr lang="en-US" sz="14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    Designed for department-wide use — async batch CSV processing, one-click export, SQLite persistence, and a multi-key Gemini rotation for zero-downtime demos.</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buNone/>
            </a:pPr>
            <a:r>
              <a:rPr lang="en-US" sz="1400" b="1" dirty="0">
                <a:solidFill>
                  <a:srgbClr val="1565C0"/>
                </a:solidFill>
                <a:latin typeface="Calibri" pitchFamily="34" charset="0"/>
                <a:ea typeface="Calibri" pitchFamily="34" charset="-122"/>
                <a:cs typeface="Calibri" pitchFamily="34" charset="-120"/>
              </a:rPr>
              <a:t>Mathematically Validated Clustering</a:t>
            </a:r>
            <a:pPr indent="0" marL="0">
              <a:spcAft>
                <a:spcPts val="600"/>
              </a:spcAft>
              <a:buNone/>
            </a:pPr>
            <a:endParaRPr lang="en-US" sz="14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    Behaviour clustering uses Elbow Method + Silhouette Score sweep (k=2..8) to auto-select optimal cluster count, ensuring academic and IEEE-level justification.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Introduction</a:t>
            </a:r>
            <a:endParaRPr lang="en-US" sz="2800" dirty="0"/>
          </a:p>
        </p:txBody>
      </p:sp>
      <p:sp>
        <p:nvSpPr>
          <p:cNvPr id="4" name="Text 2"/>
          <p:cNvSpPr/>
          <p:nvPr/>
        </p:nvSpPr>
        <p:spPr>
          <a:xfrm>
            <a:off x="457200" y="960120"/>
            <a:ext cx="8229600" cy="4023360"/>
          </a:xfrm>
          <a:prstGeom prst="rect">
            <a:avLst/>
          </a:prstGeom>
          <a:noFill/>
          <a:ln/>
        </p:spPr>
        <p:txBody>
          <a:bodyPr wrap="square" rtlCol="0" anchor="t"/>
          <a:lstStyle/>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buNone/>
            </a:pPr>
            <a:r>
              <a:rPr lang="en-US" sz="1400" b="1" dirty="0">
                <a:solidFill>
                  <a:srgbClr val="1565C0"/>
                </a:solidFill>
                <a:latin typeface="Calibri" pitchFamily="34" charset="0"/>
                <a:ea typeface="Calibri" pitchFamily="34" charset="-122"/>
                <a:cs typeface="Calibri" pitchFamily="34" charset="-120"/>
              </a:rPr>
              <a:t>Overview:</a:t>
            </a:r>
            <a:pPr indent="0" marL="0">
              <a:spcAft>
                <a:spcPts val="600"/>
              </a:spcAft>
              <a:buNone/>
            </a:pPr>
            <a:endParaRPr lang="en-US" sz="14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    Student performance prediction using ML has been validated by IEEE research, with RandomForest and SVM models demonstrating strong early-signal classification. This project elevates that baseline to a full AI advisory platform.</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buNone/>
            </a:pPr>
            <a:r>
              <a:rPr lang="en-US" sz="1400" b="1" dirty="0">
                <a:solidFill>
                  <a:srgbClr val="1565C0"/>
                </a:solidFill>
                <a:latin typeface="Calibri" pitchFamily="34" charset="0"/>
                <a:ea typeface="Calibri" pitchFamily="34" charset="-122"/>
                <a:cs typeface="Calibri" pitchFamily="34" charset="-120"/>
              </a:rPr>
              <a:t>Motivation:</a:t>
            </a:r>
            <a:pPr indent="0" marL="0">
              <a:spcAft>
                <a:spcPts val="600"/>
              </a:spcAft>
              <a:buNone/>
            </a:pPr>
            <a:endParaRPr lang="en-US" sz="14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    Despite existing ML research, academic institutions lack a deployable system that combines prediction, explanation, personalised advice, and institutional monitoring in one production-ready platform.</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buNone/>
            </a:pPr>
            <a:r>
              <a:rPr lang="en-US" sz="1400" b="1" dirty="0">
                <a:solidFill>
                  <a:srgbClr val="1565C0"/>
                </a:solidFill>
                <a:latin typeface="Calibri" pitchFamily="34" charset="0"/>
                <a:ea typeface="Calibri" pitchFamily="34" charset="-122"/>
                <a:cs typeface="Calibri" pitchFamily="34" charset="-120"/>
              </a:rPr>
              <a:t>Objective:</a:t>
            </a:r>
            <a:pPr indent="0" marL="0">
              <a:spcAft>
                <a:spcPts val="600"/>
              </a:spcAft>
              <a:buNone/>
            </a:pPr>
            <a:endParaRPr lang="en-US" sz="14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    To build an end-to-end system: data input → ML classification → Gemini AI advisory → caching → persistent storage → continuous monitoring → behaviour clustering.</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buNone/>
            </a:pPr>
            <a:r>
              <a:rPr lang="en-US" sz="1400" b="1" dirty="0">
                <a:solidFill>
                  <a:srgbClr val="1565C0"/>
                </a:solidFill>
                <a:latin typeface="Calibri" pitchFamily="34" charset="0"/>
                <a:ea typeface="Calibri" pitchFamily="34" charset="-122"/>
                <a:cs typeface="Calibri" pitchFamily="34" charset="-120"/>
              </a:rPr>
              <a:t>Outcome:</a:t>
            </a:r>
            <a:pPr indent="0" marL="0">
              <a:spcAft>
                <a:spcPts val="600"/>
              </a:spcAft>
              <a:buNone/>
            </a:pPr>
            <a:endParaRPr lang="en-US" sz="14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    Teachers receive real-time at-risk alerts, personalised student advisories, class analytics, and scientifically justified behaviour clusters — all from a single institutional platform.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Methodology</a:t>
            </a:r>
            <a:endParaRPr lang="en-US" sz="2800" dirty="0"/>
          </a:p>
        </p:txBody>
      </p:sp>
      <p:sp>
        <p:nvSpPr>
          <p:cNvPr id="4" name="Text 2"/>
          <p:cNvSpPr/>
          <p:nvPr/>
        </p:nvSpPr>
        <p:spPr>
          <a:xfrm>
            <a:off x="457200" y="960120"/>
            <a:ext cx="8229600" cy="4023360"/>
          </a:xfrm>
          <a:prstGeom prst="rect">
            <a:avLst/>
          </a:prstGeom>
          <a:noFill/>
          <a:ln/>
        </p:spPr>
        <p:txBody>
          <a:bodyPr wrap="square" rtlCol="0" anchor="t"/>
          <a:lstStyle/>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400" dirty="0">
                <a:solidFill>
                  <a:srgbClr val="000000"/>
                </a:solidFill>
                <a:latin typeface="Calibri" pitchFamily="34" charset="0"/>
                <a:ea typeface="Calibri" pitchFamily="34" charset="-122"/>
                <a:cs typeface="Calibri" pitchFamily="34" charset="-120"/>
              </a:rPr>
              <a:t>Data Acquisition: 10,000-row synthetic dataset with 4 features — attendance %, internal marks, assignment score, study hours — and realistic 3% noise injection.</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400" dirty="0">
                <a:solidFill>
                  <a:srgbClr val="000000"/>
                </a:solidFill>
                <a:latin typeface="Calibri" pitchFamily="34" charset="0"/>
                <a:ea typeface="Calibri" pitchFamily="34" charset="-122"/>
                <a:cs typeface="Calibri" pitchFamily="34" charset="-120"/>
              </a:rPr>
              <a:t>Data Preprocessing: StandardScaler normalisation, class balancing via balanced class weights in RandomForest, train/test split (80/20).</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400" dirty="0">
                <a:solidFill>
                  <a:srgbClr val="000000"/>
                </a:solidFill>
                <a:latin typeface="Calibri" pitchFamily="34" charset="0"/>
                <a:ea typeface="Calibri" pitchFamily="34" charset="-122"/>
                <a:cs typeface="Calibri" pitchFamily="34" charset="-120"/>
              </a:rPr>
              <a:t>ML Model Training: RandomForestClassifier (200 trees) trained with 5-fold cross-validation; 89.45% test accuracy, 89.33% CV score.</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400" dirty="0">
                <a:solidFill>
                  <a:srgbClr val="000000"/>
                </a:solidFill>
                <a:latin typeface="Calibri" pitchFamily="34" charset="0"/>
                <a:ea typeface="Calibri" pitchFamily="34" charset="-122"/>
                <a:cs typeface="Calibri" pitchFamily="34" charset="-120"/>
              </a:rPr>
              <a:t>AI Advisory Generation: Cache lookup → Gemini 2.5 Flash 4-key rotation → 4-section advisory → SHA-256 cache store.</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400" dirty="0">
                <a:solidFill>
                  <a:srgbClr val="000000"/>
                </a:solidFill>
                <a:latin typeface="Calibri" pitchFamily="34" charset="0"/>
                <a:ea typeface="Calibri" pitchFamily="34" charset="-122"/>
                <a:cs typeface="Calibri" pitchFamily="34" charset="-120"/>
              </a:rPr>
              <a:t>Behaviour Clustering: t-SNE 2D projection + KMeans; Elbow Method + Silhouette Score (k=2..8) auto-selects optimal k; per-cluster plain-English insights.</a:t>
            </a:r>
            <a:endParaRPr lang="en-US" sz="1400" dirty="0"/>
          </a:p>
          <a:p>
            <a:pPr indent="0" marL="0">
              <a:buNone/>
            </a:pPr>
            <a:r>
              <a:rPr lang="en-US" sz="14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400" dirty="0">
                <a:solidFill>
                  <a:srgbClr val="000000"/>
                </a:solidFill>
                <a:latin typeface="Calibri" pitchFamily="34" charset="0"/>
                <a:ea typeface="Calibri" pitchFamily="34" charset="-122"/>
                <a:cs typeface="Calibri" pitchFamily="34" charset="-120"/>
              </a:rPr>
              <a:t>Platform Deployment: FastAPI backend + React 18 frontend; async batch jobs, SQLite persistence, consecutive At-Risk detection, CSV export.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4" name="Shape 2"/>
          <p:cNvSpPr/>
          <p:nvPr/>
        </p:nvSpPr>
        <p:spPr>
          <a:xfrm>
            <a:off x="274320" y="1005840"/>
            <a:ext cx="1572768" cy="566928"/>
          </a:xfrm>
          <a:prstGeom prst="rect">
            <a:avLst/>
          </a:prstGeom>
          <a:solidFill>
            <a:srgbClr val="1565C0"/>
          </a:solidFill>
          <a:ln w="12700">
            <a:solidFill>
              <a:srgbClr val="1565C0"/>
            </a:solidFill>
            <a:prstDash val="solid"/>
          </a:ln>
        </p:spPr>
      </p:sp>
      <p:sp>
        <p:nvSpPr>
          <p:cNvPr id="5" name="Text 3"/>
          <p:cNvSpPr/>
          <p:nvPr/>
        </p:nvSpPr>
        <p:spPr>
          <a:xfrm>
            <a:off x="274320" y="1005840"/>
            <a:ext cx="157276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Teacher/Student Input</a:t>
            </a:r>
            <a:endParaRPr lang="en-US" sz="1100" dirty="0"/>
          </a:p>
        </p:txBody>
      </p:sp>
      <p:sp>
        <p:nvSpPr>
          <p:cNvPr id="6" name="Text 4"/>
          <p:cNvSpPr/>
          <p:nvPr/>
        </p:nvSpPr>
        <p:spPr>
          <a:xfrm>
            <a:off x="1847088" y="1188720"/>
            <a:ext cx="146304" cy="201168"/>
          </a:xfrm>
          <a:prstGeom prst="rect">
            <a:avLst/>
          </a:prstGeom>
          <a:noFill/>
          <a:ln/>
        </p:spPr>
        <p:txBody>
          <a:bodyPr wrap="square" rtlCol="0" anchor="ctr"/>
          <a:lstStyle/>
          <a:p>
            <a:pPr algn="ctr" indent="0" marL="0">
              <a:buNone/>
            </a:pPr>
            <a:r>
              <a:rPr lang="en-US" sz="1000" dirty="0">
                <a:solidFill>
                  <a:srgbClr val="555555"/>
                </a:solidFill>
              </a:rPr>
              <a:t>▶</a:t>
            </a:r>
            <a:endParaRPr lang="en-US" sz="1000" dirty="0"/>
          </a:p>
        </p:txBody>
      </p:sp>
      <p:sp>
        <p:nvSpPr>
          <p:cNvPr id="7" name="Shape 5"/>
          <p:cNvSpPr/>
          <p:nvPr/>
        </p:nvSpPr>
        <p:spPr>
          <a:xfrm>
            <a:off x="1993392" y="1005840"/>
            <a:ext cx="1572768" cy="566928"/>
          </a:xfrm>
          <a:prstGeom prst="rect">
            <a:avLst/>
          </a:prstGeom>
          <a:solidFill>
            <a:srgbClr val="1565C0"/>
          </a:solidFill>
          <a:ln w="12700">
            <a:solidFill>
              <a:srgbClr val="1565C0"/>
            </a:solidFill>
            <a:prstDash val="solid"/>
          </a:ln>
        </p:spPr>
      </p:sp>
      <p:sp>
        <p:nvSpPr>
          <p:cNvPr id="8" name="Text 6"/>
          <p:cNvSpPr/>
          <p:nvPr/>
        </p:nvSpPr>
        <p:spPr>
          <a:xfrm>
            <a:off x="1993392" y="1005840"/>
            <a:ext cx="157276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RandomForest ML Model</a:t>
            </a:r>
            <a:endParaRPr lang="en-US" sz="1100" dirty="0"/>
          </a:p>
        </p:txBody>
      </p:sp>
      <p:sp>
        <p:nvSpPr>
          <p:cNvPr id="9" name="Text 7"/>
          <p:cNvSpPr/>
          <p:nvPr/>
        </p:nvSpPr>
        <p:spPr>
          <a:xfrm>
            <a:off x="3566160" y="1188720"/>
            <a:ext cx="146304" cy="201168"/>
          </a:xfrm>
          <a:prstGeom prst="rect">
            <a:avLst/>
          </a:prstGeom>
          <a:noFill/>
          <a:ln/>
        </p:spPr>
        <p:txBody>
          <a:bodyPr wrap="square" rtlCol="0" anchor="ctr"/>
          <a:lstStyle/>
          <a:p>
            <a:pPr algn="ctr" indent="0" marL="0">
              <a:buNone/>
            </a:pPr>
            <a:r>
              <a:rPr lang="en-US" sz="1000" dirty="0">
                <a:solidFill>
                  <a:srgbClr val="555555"/>
                </a:solidFill>
              </a:rPr>
              <a:t>▶</a:t>
            </a:r>
            <a:endParaRPr lang="en-US" sz="1000" dirty="0"/>
          </a:p>
        </p:txBody>
      </p:sp>
      <p:sp>
        <p:nvSpPr>
          <p:cNvPr id="10" name="Shape 8"/>
          <p:cNvSpPr/>
          <p:nvPr/>
        </p:nvSpPr>
        <p:spPr>
          <a:xfrm>
            <a:off x="3712464" y="1005840"/>
            <a:ext cx="1572768" cy="566928"/>
          </a:xfrm>
          <a:prstGeom prst="rect">
            <a:avLst/>
          </a:prstGeom>
          <a:solidFill>
            <a:srgbClr val="1565C0"/>
          </a:solidFill>
          <a:ln w="12700">
            <a:solidFill>
              <a:srgbClr val="1565C0"/>
            </a:solidFill>
            <a:prstDash val="solid"/>
          </a:ln>
        </p:spPr>
      </p:sp>
      <p:sp>
        <p:nvSpPr>
          <p:cNvPr id="11" name="Text 9"/>
          <p:cNvSpPr/>
          <p:nvPr/>
        </p:nvSpPr>
        <p:spPr>
          <a:xfrm>
            <a:off x="3712464" y="1005840"/>
            <a:ext cx="157276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Cache Check (SHA-256)</a:t>
            </a:r>
            <a:endParaRPr lang="en-US" sz="1100" dirty="0"/>
          </a:p>
        </p:txBody>
      </p:sp>
      <p:sp>
        <p:nvSpPr>
          <p:cNvPr id="12" name="Text 10"/>
          <p:cNvSpPr/>
          <p:nvPr/>
        </p:nvSpPr>
        <p:spPr>
          <a:xfrm>
            <a:off x="5285232" y="1188720"/>
            <a:ext cx="146304" cy="201168"/>
          </a:xfrm>
          <a:prstGeom prst="rect">
            <a:avLst/>
          </a:prstGeom>
          <a:noFill/>
          <a:ln/>
        </p:spPr>
        <p:txBody>
          <a:bodyPr wrap="square" rtlCol="0" anchor="ctr"/>
          <a:lstStyle/>
          <a:p>
            <a:pPr algn="ctr" indent="0" marL="0">
              <a:buNone/>
            </a:pPr>
            <a:r>
              <a:rPr lang="en-US" sz="1000" dirty="0">
                <a:solidFill>
                  <a:srgbClr val="555555"/>
                </a:solidFill>
              </a:rPr>
              <a:t>▶</a:t>
            </a:r>
            <a:endParaRPr lang="en-US" sz="1000" dirty="0"/>
          </a:p>
        </p:txBody>
      </p:sp>
      <p:sp>
        <p:nvSpPr>
          <p:cNvPr id="13" name="Shape 11"/>
          <p:cNvSpPr/>
          <p:nvPr/>
        </p:nvSpPr>
        <p:spPr>
          <a:xfrm>
            <a:off x="5431536" y="1005840"/>
            <a:ext cx="1572768" cy="566928"/>
          </a:xfrm>
          <a:prstGeom prst="rect">
            <a:avLst/>
          </a:prstGeom>
          <a:solidFill>
            <a:srgbClr val="1565C0"/>
          </a:solidFill>
          <a:ln w="12700">
            <a:solidFill>
              <a:srgbClr val="1565C0"/>
            </a:solidFill>
            <a:prstDash val="solid"/>
          </a:ln>
        </p:spPr>
      </p:sp>
      <p:sp>
        <p:nvSpPr>
          <p:cNvPr id="14" name="Text 12"/>
          <p:cNvSpPr/>
          <p:nvPr/>
        </p:nvSpPr>
        <p:spPr>
          <a:xfrm>
            <a:off x="5431536" y="1005840"/>
            <a:ext cx="157276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Gemini AI (4-Key)</a:t>
            </a:r>
            <a:endParaRPr lang="en-US" sz="1100" dirty="0"/>
          </a:p>
        </p:txBody>
      </p:sp>
      <p:sp>
        <p:nvSpPr>
          <p:cNvPr id="15" name="Text 13"/>
          <p:cNvSpPr/>
          <p:nvPr/>
        </p:nvSpPr>
        <p:spPr>
          <a:xfrm>
            <a:off x="7004304" y="1188720"/>
            <a:ext cx="146304" cy="201168"/>
          </a:xfrm>
          <a:prstGeom prst="rect">
            <a:avLst/>
          </a:prstGeom>
          <a:noFill/>
          <a:ln/>
        </p:spPr>
        <p:txBody>
          <a:bodyPr wrap="square" rtlCol="0" anchor="ctr"/>
          <a:lstStyle/>
          <a:p>
            <a:pPr algn="ctr" indent="0" marL="0">
              <a:buNone/>
            </a:pPr>
            <a:r>
              <a:rPr lang="en-US" sz="1000" dirty="0">
                <a:solidFill>
                  <a:srgbClr val="555555"/>
                </a:solidFill>
              </a:rPr>
              <a:t>▶</a:t>
            </a:r>
            <a:endParaRPr lang="en-US" sz="1000" dirty="0"/>
          </a:p>
        </p:txBody>
      </p:sp>
      <p:sp>
        <p:nvSpPr>
          <p:cNvPr id="16" name="Shape 14"/>
          <p:cNvSpPr/>
          <p:nvPr/>
        </p:nvSpPr>
        <p:spPr>
          <a:xfrm>
            <a:off x="7150608" y="1005840"/>
            <a:ext cx="1572768" cy="566928"/>
          </a:xfrm>
          <a:prstGeom prst="rect">
            <a:avLst/>
          </a:prstGeom>
          <a:solidFill>
            <a:srgbClr val="1565C0"/>
          </a:solidFill>
          <a:ln w="12700">
            <a:solidFill>
              <a:srgbClr val="1565C0"/>
            </a:solidFill>
            <a:prstDash val="solid"/>
          </a:ln>
        </p:spPr>
      </p:sp>
      <p:sp>
        <p:nvSpPr>
          <p:cNvPr id="17" name="Text 15"/>
          <p:cNvSpPr/>
          <p:nvPr/>
        </p:nvSpPr>
        <p:spPr>
          <a:xfrm>
            <a:off x="7150608" y="1005840"/>
            <a:ext cx="157276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Advisory Cache Store</a:t>
            </a:r>
            <a:endParaRPr lang="en-US" sz="1100" dirty="0"/>
          </a:p>
        </p:txBody>
      </p:sp>
      <p:sp>
        <p:nvSpPr>
          <p:cNvPr id="18" name="Shape 16"/>
          <p:cNvSpPr/>
          <p:nvPr/>
        </p:nvSpPr>
        <p:spPr>
          <a:xfrm>
            <a:off x="274320" y="2423160"/>
            <a:ext cx="1572768" cy="566928"/>
          </a:xfrm>
          <a:prstGeom prst="rect">
            <a:avLst/>
          </a:prstGeom>
          <a:solidFill>
            <a:srgbClr val="1565C0"/>
          </a:solidFill>
          <a:ln w="12700">
            <a:solidFill>
              <a:srgbClr val="1565C0"/>
            </a:solidFill>
            <a:prstDash val="solid"/>
          </a:ln>
        </p:spPr>
      </p:sp>
      <p:sp>
        <p:nvSpPr>
          <p:cNvPr id="19" name="Text 17"/>
          <p:cNvSpPr/>
          <p:nvPr/>
        </p:nvSpPr>
        <p:spPr>
          <a:xfrm>
            <a:off x="274320" y="2423160"/>
            <a:ext cx="157276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SQLite Persistence</a:t>
            </a:r>
            <a:endParaRPr lang="en-US" sz="1100" dirty="0"/>
          </a:p>
        </p:txBody>
      </p:sp>
      <p:sp>
        <p:nvSpPr>
          <p:cNvPr id="20" name="Text 18"/>
          <p:cNvSpPr/>
          <p:nvPr/>
        </p:nvSpPr>
        <p:spPr>
          <a:xfrm>
            <a:off x="1847088" y="2606040"/>
            <a:ext cx="146304" cy="201168"/>
          </a:xfrm>
          <a:prstGeom prst="rect">
            <a:avLst/>
          </a:prstGeom>
          <a:noFill/>
          <a:ln/>
        </p:spPr>
        <p:txBody>
          <a:bodyPr wrap="square" rtlCol="0" anchor="ctr"/>
          <a:lstStyle/>
          <a:p>
            <a:pPr algn="ctr" indent="0" marL="0">
              <a:buNone/>
            </a:pPr>
            <a:r>
              <a:rPr lang="en-US" sz="1000" dirty="0">
                <a:solidFill>
                  <a:srgbClr val="555555"/>
                </a:solidFill>
              </a:rPr>
              <a:t>▶</a:t>
            </a:r>
            <a:endParaRPr lang="en-US" sz="1000" dirty="0"/>
          </a:p>
        </p:txBody>
      </p:sp>
      <p:sp>
        <p:nvSpPr>
          <p:cNvPr id="21" name="Shape 19"/>
          <p:cNvSpPr/>
          <p:nvPr/>
        </p:nvSpPr>
        <p:spPr>
          <a:xfrm>
            <a:off x="1993392" y="2423160"/>
            <a:ext cx="1572768" cy="566928"/>
          </a:xfrm>
          <a:prstGeom prst="rect">
            <a:avLst/>
          </a:prstGeom>
          <a:solidFill>
            <a:srgbClr val="1565C0"/>
          </a:solidFill>
          <a:ln w="12700">
            <a:solidFill>
              <a:srgbClr val="1565C0"/>
            </a:solidFill>
            <a:prstDash val="solid"/>
          </a:ln>
        </p:spPr>
      </p:sp>
      <p:sp>
        <p:nvSpPr>
          <p:cNvPr id="22" name="Text 20"/>
          <p:cNvSpPr/>
          <p:nvPr/>
        </p:nvSpPr>
        <p:spPr>
          <a:xfrm>
            <a:off x="1993392" y="2423160"/>
            <a:ext cx="157276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At-Risk Alert Engine</a:t>
            </a:r>
            <a:endParaRPr lang="en-US" sz="1100" dirty="0"/>
          </a:p>
        </p:txBody>
      </p:sp>
      <p:sp>
        <p:nvSpPr>
          <p:cNvPr id="23" name="Text 21"/>
          <p:cNvSpPr/>
          <p:nvPr/>
        </p:nvSpPr>
        <p:spPr>
          <a:xfrm>
            <a:off x="3566160" y="2606040"/>
            <a:ext cx="146304" cy="201168"/>
          </a:xfrm>
          <a:prstGeom prst="rect">
            <a:avLst/>
          </a:prstGeom>
          <a:noFill/>
          <a:ln/>
        </p:spPr>
        <p:txBody>
          <a:bodyPr wrap="square" rtlCol="0" anchor="ctr"/>
          <a:lstStyle/>
          <a:p>
            <a:pPr algn="ctr" indent="0" marL="0">
              <a:buNone/>
            </a:pPr>
            <a:r>
              <a:rPr lang="en-US" sz="1000" dirty="0">
                <a:solidFill>
                  <a:srgbClr val="555555"/>
                </a:solidFill>
              </a:rPr>
              <a:t>▶</a:t>
            </a:r>
            <a:endParaRPr lang="en-US" sz="1000" dirty="0"/>
          </a:p>
        </p:txBody>
      </p:sp>
      <p:sp>
        <p:nvSpPr>
          <p:cNvPr id="24" name="Shape 22"/>
          <p:cNvSpPr/>
          <p:nvPr/>
        </p:nvSpPr>
        <p:spPr>
          <a:xfrm>
            <a:off x="3712464" y="2423160"/>
            <a:ext cx="1572768" cy="566928"/>
          </a:xfrm>
          <a:prstGeom prst="rect">
            <a:avLst/>
          </a:prstGeom>
          <a:solidFill>
            <a:srgbClr val="1565C0"/>
          </a:solidFill>
          <a:ln w="12700">
            <a:solidFill>
              <a:srgbClr val="1565C0"/>
            </a:solidFill>
            <a:prstDash val="solid"/>
          </a:ln>
        </p:spPr>
      </p:sp>
      <p:sp>
        <p:nvSpPr>
          <p:cNvPr id="25" name="Text 23"/>
          <p:cNvSpPr/>
          <p:nvPr/>
        </p:nvSpPr>
        <p:spPr>
          <a:xfrm>
            <a:off x="3712464" y="2423160"/>
            <a:ext cx="157276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Behaviour Clustering</a:t>
            </a:r>
            <a:endParaRPr lang="en-US" sz="1100" dirty="0"/>
          </a:p>
        </p:txBody>
      </p:sp>
      <p:sp>
        <p:nvSpPr>
          <p:cNvPr id="26" name="Text 24"/>
          <p:cNvSpPr/>
          <p:nvPr/>
        </p:nvSpPr>
        <p:spPr>
          <a:xfrm>
            <a:off x="5285232" y="2606040"/>
            <a:ext cx="146304" cy="201168"/>
          </a:xfrm>
          <a:prstGeom prst="rect">
            <a:avLst/>
          </a:prstGeom>
          <a:noFill/>
          <a:ln/>
        </p:spPr>
        <p:txBody>
          <a:bodyPr wrap="square" rtlCol="0" anchor="ctr"/>
          <a:lstStyle/>
          <a:p>
            <a:pPr algn="ctr" indent="0" marL="0">
              <a:buNone/>
            </a:pPr>
            <a:r>
              <a:rPr lang="en-US" sz="1000" dirty="0">
                <a:solidFill>
                  <a:srgbClr val="555555"/>
                </a:solidFill>
              </a:rPr>
              <a:t>▶</a:t>
            </a:r>
            <a:endParaRPr lang="en-US" sz="1000" dirty="0"/>
          </a:p>
        </p:txBody>
      </p:sp>
      <p:sp>
        <p:nvSpPr>
          <p:cNvPr id="27" name="Shape 25"/>
          <p:cNvSpPr/>
          <p:nvPr/>
        </p:nvSpPr>
        <p:spPr>
          <a:xfrm>
            <a:off x="5431536" y="2423160"/>
            <a:ext cx="1572768" cy="566928"/>
          </a:xfrm>
          <a:prstGeom prst="rect">
            <a:avLst/>
          </a:prstGeom>
          <a:solidFill>
            <a:srgbClr val="1565C0"/>
          </a:solidFill>
          <a:ln w="12700">
            <a:solidFill>
              <a:srgbClr val="1565C0"/>
            </a:solidFill>
            <a:prstDash val="solid"/>
          </a:ln>
        </p:spPr>
      </p:sp>
      <p:sp>
        <p:nvSpPr>
          <p:cNvPr id="28" name="Text 26"/>
          <p:cNvSpPr/>
          <p:nvPr/>
        </p:nvSpPr>
        <p:spPr>
          <a:xfrm>
            <a:off x="5431536" y="2423160"/>
            <a:ext cx="157276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Teacher Dashboard</a:t>
            </a:r>
            <a:endParaRPr lang="en-US" sz="1100" dirty="0"/>
          </a:p>
        </p:txBody>
      </p:sp>
      <p:sp>
        <p:nvSpPr>
          <p:cNvPr id="29" name="Text 27"/>
          <p:cNvSpPr/>
          <p:nvPr/>
        </p:nvSpPr>
        <p:spPr>
          <a:xfrm>
            <a:off x="7004304" y="2606040"/>
            <a:ext cx="146304" cy="201168"/>
          </a:xfrm>
          <a:prstGeom prst="rect">
            <a:avLst/>
          </a:prstGeom>
          <a:noFill/>
          <a:ln/>
        </p:spPr>
        <p:txBody>
          <a:bodyPr wrap="square" rtlCol="0" anchor="ctr"/>
          <a:lstStyle/>
          <a:p>
            <a:pPr algn="ctr" indent="0" marL="0">
              <a:buNone/>
            </a:pPr>
            <a:r>
              <a:rPr lang="en-US" sz="1000" dirty="0">
                <a:solidFill>
                  <a:srgbClr val="555555"/>
                </a:solidFill>
              </a:rPr>
              <a:t>▶</a:t>
            </a:r>
            <a:endParaRPr lang="en-US" sz="1000" dirty="0"/>
          </a:p>
        </p:txBody>
      </p:sp>
      <p:sp>
        <p:nvSpPr>
          <p:cNvPr id="30" name="Shape 28"/>
          <p:cNvSpPr/>
          <p:nvPr/>
        </p:nvSpPr>
        <p:spPr>
          <a:xfrm>
            <a:off x="7150608" y="2423160"/>
            <a:ext cx="1572768" cy="566928"/>
          </a:xfrm>
          <a:prstGeom prst="rect">
            <a:avLst/>
          </a:prstGeom>
          <a:solidFill>
            <a:srgbClr val="1565C0"/>
          </a:solidFill>
          <a:ln w="12700">
            <a:solidFill>
              <a:srgbClr val="1565C0"/>
            </a:solidFill>
            <a:prstDash val="solid"/>
          </a:ln>
        </p:spPr>
      </p:sp>
      <p:sp>
        <p:nvSpPr>
          <p:cNvPr id="31" name="Text 29"/>
          <p:cNvSpPr/>
          <p:nvPr/>
        </p:nvSpPr>
        <p:spPr>
          <a:xfrm>
            <a:off x="7150608" y="2423160"/>
            <a:ext cx="157276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CSV Export / Batch</a:t>
            </a:r>
            <a:endParaRPr lang="en-US" sz="1100" dirty="0"/>
          </a:p>
        </p:txBody>
      </p:sp>
      <p:sp>
        <p:nvSpPr>
          <p:cNvPr id="32" name="Text 30"/>
          <p:cNvSpPr/>
          <p:nvPr/>
        </p:nvSpPr>
        <p:spPr>
          <a:xfrm>
            <a:off x="3200400" y="2624328"/>
            <a:ext cx="2743200" cy="219456"/>
          </a:xfrm>
          <a:prstGeom prst="rect">
            <a:avLst/>
          </a:prstGeom>
          <a:noFill/>
          <a:ln/>
        </p:spPr>
        <p:txBody>
          <a:bodyPr wrap="square" rtlCol="0" anchor="ctr"/>
          <a:lstStyle/>
          <a:p>
            <a:pPr algn="ctr" indent="0" marL="0">
              <a:buNone/>
            </a:pPr>
            <a:r>
              <a:rPr lang="en-US" sz="1000" i="1" dirty="0">
                <a:solidFill>
                  <a:srgbClr val="888888"/>
                </a:solidFill>
                <a:latin typeface="Calibri" pitchFamily="34" charset="0"/>
                <a:ea typeface="Calibri" pitchFamily="34" charset="-122"/>
                <a:cs typeface="Calibri" pitchFamily="34" charset="-120"/>
              </a:rPr>
              <a:t>▼  Flow continues on second row</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Implementation of Modules</a:t>
            </a:r>
            <a:endParaRPr lang="en-US" sz="2800" dirty="0"/>
          </a:p>
        </p:txBody>
      </p:sp>
      <p:sp>
        <p:nvSpPr>
          <p:cNvPr id="4" name="Text 2"/>
          <p:cNvSpPr/>
          <p:nvPr/>
        </p:nvSpPr>
        <p:spPr>
          <a:xfrm>
            <a:off x="640080" y="1005840"/>
            <a:ext cx="7863840" cy="3931920"/>
          </a:xfrm>
          <a:prstGeom prst="rect">
            <a:avLst/>
          </a:prstGeom>
          <a:noFill/>
          <a:ln/>
        </p:spPr>
        <p:txBody>
          <a:bodyPr wrap="square" rtlCol="0" anchor="t"/>
          <a:lstStyle/>
          <a:p>
            <a:pPr indent="0" marL="0">
              <a:spcAft>
                <a:spcPts val="500"/>
              </a:spcAft>
              <a:buNone/>
            </a:pPr>
            <a:r>
              <a:rPr lang="en-US" sz="1500" b="1" dirty="0">
                <a:solidFill>
                  <a:srgbClr val="000000"/>
                </a:solidFill>
                <a:latin typeface="Calibri" pitchFamily="34" charset="0"/>
                <a:ea typeface="Calibri" pitchFamily="34" charset="-122"/>
                <a:cs typeface="Calibri" pitchFamily="34" charset="-120"/>
              </a:rPr>
              <a:t>1. ML Prediction API (FastAPI Backend)</a:t>
            </a:r>
            <a:endParaRPr lang="en-US" sz="1500" dirty="0"/>
          </a:p>
          <a:p>
            <a:pPr indent="0" marL="0">
              <a:spcAft>
                <a:spcPts val="500"/>
              </a:spcAft>
              <a:buNone/>
            </a:pPr>
            <a:r>
              <a:rPr lang="en-US" sz="1500" b="1" dirty="0">
                <a:solidFill>
                  <a:srgbClr val="000000"/>
                </a:solidFill>
                <a:latin typeface="Calibri" pitchFamily="34" charset="0"/>
                <a:ea typeface="Calibri" pitchFamily="34" charset="-122"/>
                <a:cs typeface="Calibri" pitchFamily="34" charset="-120"/>
              </a:rPr>
              <a:t>2. AI Advisory Engine (Gemini 2.5 Flash — 4-Key Rotation)</a:t>
            </a:r>
            <a:endParaRPr lang="en-US" sz="1500" dirty="0"/>
          </a:p>
          <a:p>
            <a:pPr indent="0" marL="0">
              <a:spcAft>
                <a:spcPts val="500"/>
              </a:spcAft>
              <a:buNone/>
            </a:pPr>
            <a:r>
              <a:rPr lang="en-US" sz="1500" b="1" dirty="0">
                <a:solidFill>
                  <a:srgbClr val="000000"/>
                </a:solidFill>
                <a:latin typeface="Calibri" pitchFamily="34" charset="0"/>
                <a:ea typeface="Calibri" pitchFamily="34" charset="-122"/>
                <a:cs typeface="Calibri" pitchFamily="34" charset="-120"/>
              </a:rPr>
              <a:t>3. System User Access Control</a:t>
            </a:r>
            <a:endParaRPr lang="en-US" sz="1500" dirty="0"/>
          </a:p>
          <a:p>
            <a:pPr indent="0" marL="0">
              <a:spcAft>
                <a:spcPts val="500"/>
              </a:spcAft>
              <a:buNone/>
            </a:pPr>
            <a:r>
              <a:rPr lang="en-US" sz="1400" dirty="0">
                <a:solidFill>
                  <a:srgbClr val="444444"/>
                </a:solidFill>
                <a:latin typeface="Calibri" pitchFamily="34" charset="0"/>
                <a:ea typeface="Calibri" pitchFamily="34" charset="-122"/>
                <a:cs typeface="Calibri" pitchFamily="34" charset="-120"/>
              </a:rPr>
              <a:t>    3.1. Admin</a:t>
            </a:r>
            <a:endParaRPr lang="en-US" sz="1500" dirty="0"/>
          </a:p>
          <a:p>
            <a:pPr indent="0" marL="0">
              <a:spcAft>
                <a:spcPts val="500"/>
              </a:spcAft>
              <a:buNone/>
            </a:pPr>
            <a:r>
              <a:rPr lang="en-US" sz="1400" dirty="0">
                <a:solidFill>
                  <a:srgbClr val="444444"/>
                </a:solidFill>
                <a:latin typeface="Calibri" pitchFamily="34" charset="0"/>
                <a:ea typeface="Calibri" pitchFamily="34" charset="-122"/>
                <a:cs typeface="Calibri" pitchFamily="34" charset="-120"/>
              </a:rPr>
              <a:t>    3.2. Teacher / Department Staff</a:t>
            </a:r>
            <a:endParaRPr lang="en-US" sz="1500" dirty="0"/>
          </a:p>
          <a:p>
            <a:pPr indent="0" marL="0">
              <a:spcAft>
                <a:spcPts val="500"/>
              </a:spcAft>
              <a:buNone/>
            </a:pPr>
            <a:r>
              <a:rPr lang="en-US" sz="1400" dirty="0">
                <a:solidFill>
                  <a:srgbClr val="444444"/>
                </a:solidFill>
                <a:latin typeface="Calibri" pitchFamily="34" charset="0"/>
                <a:ea typeface="Calibri" pitchFamily="34" charset="-122"/>
                <a:cs typeface="Calibri" pitchFamily="34" charset="-120"/>
              </a:rPr>
              <a:t>    3.3. Student</a:t>
            </a:r>
            <a:endParaRPr lang="en-US" sz="1500" dirty="0"/>
          </a:p>
          <a:p>
            <a:pPr indent="0" marL="0">
              <a:spcAft>
                <a:spcPts val="500"/>
              </a:spcAft>
              <a:buNone/>
            </a:pPr>
            <a:r>
              <a:rPr lang="en-US" sz="1500" b="1" dirty="0">
                <a:solidFill>
                  <a:srgbClr val="000000"/>
                </a:solidFill>
                <a:latin typeface="Calibri" pitchFamily="34" charset="0"/>
                <a:ea typeface="Calibri" pitchFamily="34" charset="-122"/>
                <a:cs typeface="Calibri" pitchFamily="34" charset="-120"/>
              </a:rPr>
              <a:t>4. MalScanX → PerformancePredict Model — Build and Train</a:t>
            </a:r>
            <a:endParaRPr lang="en-US" sz="1500" dirty="0"/>
          </a:p>
          <a:p>
            <a:pPr indent="0" marL="0">
              <a:spcAft>
                <a:spcPts val="500"/>
              </a:spcAft>
              <a:buNone/>
            </a:pPr>
            <a:r>
              <a:rPr lang="en-US" sz="1400" dirty="0">
                <a:solidFill>
                  <a:srgbClr val="444444"/>
                </a:solidFill>
                <a:latin typeface="Calibri" pitchFamily="34" charset="0"/>
                <a:ea typeface="Calibri" pitchFamily="34" charset="-122"/>
                <a:cs typeface="Calibri" pitchFamily="34" charset="-120"/>
              </a:rPr>
              <a:t>    4.1. Import Dataset (10,000-row synthetic CSV)</a:t>
            </a:r>
            <a:endParaRPr lang="en-US" sz="1500" dirty="0"/>
          </a:p>
          <a:p>
            <a:pPr indent="0" marL="0">
              <a:spcAft>
                <a:spcPts val="500"/>
              </a:spcAft>
              <a:buNone/>
            </a:pPr>
            <a:r>
              <a:rPr lang="en-US" sz="1400" dirty="0">
                <a:solidFill>
                  <a:srgbClr val="444444"/>
                </a:solidFill>
                <a:latin typeface="Calibri" pitchFamily="34" charset="0"/>
                <a:ea typeface="Calibri" pitchFamily="34" charset="-122"/>
                <a:cs typeface="Calibri" pitchFamily="34" charset="-120"/>
              </a:rPr>
              <a:t>    4.2. Preprocessing and Normalisation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Modules</a:t>
            </a:r>
            <a:endParaRPr lang="en-US" sz="2800" dirty="0"/>
          </a:p>
        </p:txBody>
      </p:sp>
      <p:sp>
        <p:nvSpPr>
          <p:cNvPr id="4" name="Text 2"/>
          <p:cNvSpPr/>
          <p:nvPr/>
        </p:nvSpPr>
        <p:spPr>
          <a:xfrm>
            <a:off x="640080" y="1005840"/>
            <a:ext cx="7863840" cy="3931920"/>
          </a:xfrm>
          <a:prstGeom prst="rect">
            <a:avLst/>
          </a:prstGeom>
          <a:noFill/>
          <a:ln/>
        </p:spPr>
        <p:txBody>
          <a:bodyPr wrap="square" rtlCol="0" anchor="t"/>
          <a:lstStyle/>
          <a:p>
            <a:pPr indent="0" marL="0">
              <a:spcAft>
                <a:spcPts val="400"/>
              </a:spcAft>
              <a:buNone/>
            </a:pPr>
            <a:r>
              <a:rPr lang="en-US" sz="1400" dirty="0">
                <a:solidFill>
                  <a:srgbClr val="444444"/>
                </a:solidFill>
                <a:latin typeface="Calibri" pitchFamily="34" charset="0"/>
                <a:ea typeface="Calibri" pitchFamily="34" charset="-122"/>
                <a:cs typeface="Calibri" pitchFamily="34" charset="-120"/>
              </a:rPr>
              <a:t>    4.3. Feature Extraction and StandardScaler</a:t>
            </a:r>
            <a:endParaRPr lang="en-US" sz="1400" dirty="0"/>
          </a:p>
          <a:p>
            <a:pPr indent="0" marL="0">
              <a:spcAft>
                <a:spcPts val="400"/>
              </a:spcAft>
              <a:buNone/>
            </a:pPr>
            <a:r>
              <a:rPr lang="en-US" sz="1400" dirty="0">
                <a:solidFill>
                  <a:srgbClr val="444444"/>
                </a:solidFill>
                <a:latin typeface="Calibri" pitchFamily="34" charset="0"/>
                <a:ea typeface="Calibri" pitchFamily="34" charset="-122"/>
                <a:cs typeface="Calibri" pitchFamily="34" charset="-120"/>
              </a:rPr>
              <a:t>    4.4. RandomForestClassifier: Build and Train (200 trees)</a:t>
            </a:r>
            <a:endParaRPr lang="en-US" sz="1400" dirty="0"/>
          </a:p>
          <a:p>
            <a:pPr indent="0" marL="0">
              <a:spcAft>
                <a:spcPts val="400"/>
              </a:spcAft>
              <a:buNone/>
            </a:pPr>
            <a:r>
              <a:rPr lang="en-US" sz="1400" dirty="0">
                <a:solidFill>
                  <a:srgbClr val="444444"/>
                </a:solidFill>
                <a:latin typeface="Calibri" pitchFamily="34" charset="0"/>
                <a:ea typeface="Calibri" pitchFamily="34" charset="-122"/>
                <a:cs typeface="Calibri" pitchFamily="34" charset="-120"/>
              </a:rPr>
              <a:t>    4.5. Model Storage and Version Management</a:t>
            </a:r>
            <a:endParaRPr lang="en-US" sz="1400" dirty="0"/>
          </a:p>
          <a:p>
            <a:pPr indent="0" marL="0">
              <a:spcAft>
                <a:spcPts val="400"/>
              </a:spcAft>
              <a:buNone/>
            </a:pPr>
            <a:r>
              <a:rPr lang="en-US" sz="1500" b="1" dirty="0">
                <a:solidFill>
                  <a:srgbClr val="000000"/>
                </a:solidFill>
                <a:latin typeface="Calibri" pitchFamily="34" charset="0"/>
                <a:ea typeface="Calibri" pitchFamily="34" charset="-122"/>
                <a:cs typeface="Calibri" pitchFamily="34" charset="-120"/>
              </a:rPr>
              <a:t>5. Advisory Caching System (SHA-256 + SQLite)</a:t>
            </a:r>
            <a:endParaRPr lang="en-US" sz="1400" dirty="0"/>
          </a:p>
          <a:p>
            <a:pPr indent="0" marL="0">
              <a:spcAft>
                <a:spcPts val="400"/>
              </a:spcAft>
              <a:buNone/>
            </a:pPr>
            <a:r>
              <a:rPr lang="en-US" sz="1400" dirty="0">
                <a:solidFill>
                  <a:srgbClr val="444444"/>
                </a:solidFill>
                <a:latin typeface="Calibri" pitchFamily="34" charset="0"/>
                <a:ea typeface="Calibri" pitchFamily="34" charset="-122"/>
                <a:cs typeface="Calibri" pitchFamily="34" charset="-120"/>
              </a:rPr>
              <a:t>    5.1. Student Input and Cache Lookup</a:t>
            </a:r>
            <a:endParaRPr lang="en-US" sz="1400" dirty="0"/>
          </a:p>
          <a:p>
            <a:pPr indent="0" marL="0">
              <a:spcAft>
                <a:spcPts val="400"/>
              </a:spcAft>
              <a:buNone/>
            </a:pPr>
            <a:r>
              <a:rPr lang="en-US" sz="1400" dirty="0">
                <a:solidFill>
                  <a:srgbClr val="444444"/>
                </a:solidFill>
                <a:latin typeface="Calibri" pitchFamily="34" charset="0"/>
                <a:ea typeface="Calibri" pitchFamily="34" charset="-122"/>
                <a:cs typeface="Calibri" pitchFamily="34" charset="-120"/>
              </a:rPr>
              <a:t>    5.2. Gemini AI Call (Cache MISS only)</a:t>
            </a:r>
            <a:endParaRPr lang="en-US" sz="1400" dirty="0"/>
          </a:p>
          <a:p>
            <a:pPr indent="0" marL="0">
              <a:spcAft>
                <a:spcPts val="400"/>
              </a:spcAft>
              <a:buNone/>
            </a:pPr>
            <a:r>
              <a:rPr lang="en-US" sz="1400" dirty="0">
                <a:solidFill>
                  <a:srgbClr val="444444"/>
                </a:solidFill>
                <a:latin typeface="Calibri" pitchFamily="34" charset="0"/>
                <a:ea typeface="Calibri" pitchFamily="34" charset="-122"/>
                <a:cs typeface="Calibri" pitchFamily="34" charset="-120"/>
              </a:rPr>
              <a:t>    5.3. Advisory Cache Store</a:t>
            </a:r>
            <a:endParaRPr lang="en-US" sz="1400" dirty="0"/>
          </a:p>
          <a:p>
            <a:pPr indent="0" marL="0">
              <a:spcAft>
                <a:spcPts val="400"/>
              </a:spcAft>
              <a:buNone/>
            </a:pPr>
            <a:r>
              <a:rPr lang="en-US" sz="1400" dirty="0">
                <a:solidFill>
                  <a:srgbClr val="444444"/>
                </a:solidFill>
                <a:latin typeface="Calibri" pitchFamily="34" charset="0"/>
                <a:ea typeface="Calibri" pitchFamily="34" charset="-122"/>
                <a:cs typeface="Calibri" pitchFamily="34" charset="-120"/>
              </a:rPr>
              <a:t>    5.4. Instant Repeat Prediction (~400 ms)</a:t>
            </a:r>
            <a:endParaRPr lang="en-US" sz="1400" dirty="0"/>
          </a:p>
          <a:p>
            <a:pPr indent="0" marL="0">
              <a:spcAft>
                <a:spcPts val="400"/>
              </a:spcAft>
              <a:buNone/>
            </a:pPr>
            <a:r>
              <a:rPr lang="en-US" sz="1500" b="1" dirty="0">
                <a:solidFill>
                  <a:srgbClr val="000000"/>
                </a:solidFill>
                <a:latin typeface="Calibri" pitchFamily="34" charset="0"/>
                <a:ea typeface="Calibri" pitchFamily="34" charset="-122"/>
                <a:cs typeface="Calibri" pitchFamily="34" charset="-120"/>
              </a:rPr>
              <a:t>6. ATS Score Level Indicator → Risk Level Indicator</a:t>
            </a:r>
            <a:endParaRPr lang="en-US" sz="1400" dirty="0"/>
          </a:p>
          <a:p>
            <a:pPr indent="0" marL="0">
              <a:spcAft>
                <a:spcPts val="400"/>
              </a:spcAft>
              <a:buNone/>
            </a:pPr>
            <a:r>
              <a:rPr lang="en-US" sz="1500" b="1" dirty="0">
                <a:solidFill>
                  <a:srgbClr val="000000"/>
                </a:solidFill>
                <a:latin typeface="Calibri" pitchFamily="34" charset="0"/>
                <a:ea typeface="Calibri" pitchFamily="34" charset="-122"/>
                <a:cs typeface="Calibri" pitchFamily="34" charset="-120"/>
              </a:rPr>
              <a:t>7. Consecutive At-Risk Alert Detector</a:t>
            </a:r>
            <a:endParaRPr lang="en-US" sz="1400" dirty="0"/>
          </a:p>
          <a:p>
            <a:pPr indent="0" marL="0">
              <a:spcAft>
                <a:spcPts val="400"/>
              </a:spcAft>
              <a:buNone/>
            </a:pPr>
            <a:r>
              <a:rPr lang="en-US" sz="1500" b="1" dirty="0">
                <a:solidFill>
                  <a:srgbClr val="000000"/>
                </a:solidFill>
                <a:latin typeface="Calibri" pitchFamily="34" charset="0"/>
                <a:ea typeface="Calibri" pitchFamily="34" charset="-122"/>
                <a:cs typeface="Calibri" pitchFamily="34" charset="-120"/>
              </a:rPr>
              <a:t>8. Behaviour Clustering (t-SNE + KMeans)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 ML Prediction API</a:t>
            </a:r>
            <a:endParaRPr lang="en-US" sz="2800" dirty="0"/>
          </a:p>
        </p:txBody>
      </p:sp>
      <p:sp>
        <p:nvSpPr>
          <p:cNvPr id="4" name="Text 2"/>
          <p:cNvSpPr/>
          <p:nvPr/>
        </p:nvSpPr>
        <p:spPr>
          <a:xfrm>
            <a:off x="457200" y="960120"/>
            <a:ext cx="8229600" cy="3977640"/>
          </a:xfrm>
          <a:prstGeom prst="rect">
            <a:avLst/>
          </a:prstGeom>
          <a:noFill/>
          <a:ln/>
        </p:spPr>
        <p:txBody>
          <a:bodyPr wrap="square" rtlCol="0" anchor="t"/>
          <a:lstStyle/>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Core backend built with Python 3.11 and FastAPI — handles single student predictions and async batch CSV uploads via POST endpoints.</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The API receives 4 student metrics (attendance, internal marks, assignment score, study hours), passes them to the trained RandomForestClassifier, and returns a classified risk level with probability scores.</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FastAPI manages routing, request validation (Pydantic v2), and communication between the ML engine, AI advisory module, and SQLite database.</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Uvicorn serves the API with async support, enabling concurrent batch job processing without blocking single predictions.</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All ML tools — Scikit-learn (RandomForest, KMeans, t-SNE, StandardScaler) — are integrated directly into the API for seamless end-to-end execution.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 AI Advisory Engine (Gemini 2.5 Flash)</a:t>
            </a:r>
            <a:endParaRPr lang="en-US" sz="2800" dirty="0"/>
          </a:p>
        </p:txBody>
      </p:sp>
      <p:sp>
        <p:nvSpPr>
          <p:cNvPr id="4" name="Text 2"/>
          <p:cNvSpPr/>
          <p:nvPr/>
        </p:nvSpPr>
        <p:spPr>
          <a:xfrm>
            <a:off x="457200" y="960120"/>
            <a:ext cx="8229600" cy="3977640"/>
          </a:xfrm>
          <a:prstGeom prst="rect">
            <a:avLst/>
          </a:prstGeom>
          <a:noFill/>
          <a:ln/>
        </p:spPr>
        <p:txBody>
          <a:bodyPr wrap="square" rtlCol="0" anchor="t"/>
          <a:lstStyle/>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This module provides the AI intelligence layer — 100% Gemini-generated, no rule-based fallback.</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Every prediction triggers a structured Gemini 2.5 Flash API call that generates 4 sections: Personalised Explanation, Risk Factor Analysis, Priority Action Plan, and a 7-Day Study Schedule.</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A 4-key rotation architecture (Key 1 → Key 2 → Key 3 → Key 4 → RuntimeError) with full model cascade per key (gemini-2.5-flash → gemini-2.5-flash-lite → gemini-2.0-flash → gemma-3-27b-it) ensures zero rate-limit failures.</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Advisory results are cached by student_id + metrics SHA-256 hash in both in-memory (sub-ms) and SQLite persistent (survives restart) caches.</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Repeat predictions return from cache in ~400 ms — no AI call, no quota consumed. Demo reset re-seeds 25 students from cache in ~3 seconds.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 System User</a:t>
            </a:r>
            <a:endParaRPr lang="en-US" sz="2800" dirty="0"/>
          </a:p>
        </p:txBody>
      </p:sp>
      <p:sp>
        <p:nvSpPr>
          <p:cNvPr id="4" name="Text 2"/>
          <p:cNvSpPr/>
          <p:nvPr/>
        </p:nvSpPr>
        <p:spPr>
          <a:xfrm>
            <a:off x="457200" y="987552"/>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3.1. Admin</a:t>
            </a:r>
            <a:endParaRPr lang="en-US" sz="1600" dirty="0"/>
          </a:p>
        </p:txBody>
      </p:sp>
      <p:sp>
        <p:nvSpPr>
          <p:cNvPr id="5" name="Text 3"/>
          <p:cNvSpPr/>
          <p:nvPr/>
        </p:nvSpPr>
        <p:spPr>
          <a:xfrm>
            <a:off x="457200" y="1298448"/>
            <a:ext cx="8229600" cy="749808"/>
          </a:xfrm>
          <a:prstGeom prst="rect">
            <a:avLst/>
          </a:prstGeom>
          <a:noFill/>
          <a:ln/>
        </p:spPr>
        <p:txBody>
          <a:bodyPr wrap="square" rtlCol="0" anchor="ctr"/>
          <a:lstStyle/>
          <a:p>
            <a:pPr algn="just" indent="0" marL="0">
              <a:buNone/>
            </a:pPr>
            <a:r>
              <a:rPr lang="en-US" sz="1400" dirty="0">
                <a:solidFill>
                  <a:srgbClr val="000000"/>
                </a:solidFill>
                <a:latin typeface="Calibri" pitchFamily="34" charset="0"/>
                <a:ea typeface="Calibri" pitchFamily="34" charset="-122"/>
                <a:cs typeface="Calibri" pitchFamily="34" charset="-120"/>
              </a:rPr>
              <a:t>The admin manages the complete platform — user registration, ML model retraining, dataset updates, demo reset, and monitoring batch job activity. Admin tools provide insights into system performance, prediction logs, and Gemini key health, ensuring smooth functioning of the entire AI pipeline.</a:t>
            </a:r>
            <a:endParaRPr lang="en-US" sz="1400" dirty="0"/>
          </a:p>
        </p:txBody>
      </p:sp>
      <p:sp>
        <p:nvSpPr>
          <p:cNvPr id="6" name="Text 4"/>
          <p:cNvSpPr/>
          <p:nvPr/>
        </p:nvSpPr>
        <p:spPr>
          <a:xfrm>
            <a:off x="457200" y="2176272"/>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3.2. Teacher / Department Staff</a:t>
            </a:r>
            <a:endParaRPr lang="en-US" sz="1600" dirty="0"/>
          </a:p>
        </p:txBody>
      </p:sp>
      <p:sp>
        <p:nvSpPr>
          <p:cNvPr id="7" name="Text 5"/>
          <p:cNvSpPr/>
          <p:nvPr/>
        </p:nvSpPr>
        <p:spPr>
          <a:xfrm>
            <a:off x="457200" y="2487168"/>
            <a:ext cx="8229600" cy="868680"/>
          </a:xfrm>
          <a:prstGeom prst="rect">
            <a:avLst/>
          </a:prstGeom>
          <a:noFill/>
          <a:ln/>
        </p:spPr>
        <p:txBody>
          <a:bodyPr wrap="square" rtlCol="0" anchor="ctr"/>
          <a:lstStyle/>
          <a:p>
            <a:pPr algn="just" indent="0" marL="0">
              <a:buNone/>
            </a:pPr>
            <a:r>
              <a:rPr lang="en-US" sz="1400" dirty="0">
                <a:solidFill>
                  <a:srgbClr val="000000"/>
                </a:solidFill>
                <a:latin typeface="Calibri" pitchFamily="34" charset="0"/>
                <a:ea typeface="Calibri" pitchFamily="34" charset="-122"/>
                <a:cs typeface="Calibri" pitchFamily="34" charset="-120"/>
              </a:rPr>
              <a:t>Teachers use the analytics dashboard to monitor class-wide risk distributions, view individual student AI advisories, receive consecutive At-Risk bell notifications, browse prediction history with search/filter, access class rankings, and export institutional records as one-click CSV downloads.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3.3. Student</a:t>
            </a:r>
            <a:endParaRPr lang="en-US" sz="2800" dirty="0"/>
          </a:p>
        </p:txBody>
      </p:sp>
      <p:sp>
        <p:nvSpPr>
          <p:cNvPr id="4" name="Text 2"/>
          <p:cNvSpPr/>
          <p:nvPr/>
        </p:nvSpPr>
        <p:spPr>
          <a:xfrm>
            <a:off x="457200" y="987552"/>
            <a:ext cx="8229600" cy="3977640"/>
          </a:xfrm>
          <a:prstGeom prst="rect">
            <a:avLst/>
          </a:prstGeom>
          <a:noFill/>
          <a:ln/>
        </p:spPr>
        <p:txBody>
          <a:bodyPr wrap="square" rtlCol="0" anchor="t"/>
          <a:lstStyle/>
          <a:p>
            <a:pPr algn="just" indent="0" marL="0">
              <a:buNone/>
            </a:pPr>
            <a:r>
              <a:rPr lang="en-US" sz="1500" dirty="0">
                <a:solidFill>
                  <a:srgbClr val="000000"/>
                </a:solidFill>
                <a:latin typeface="Calibri" pitchFamily="34" charset="0"/>
                <a:ea typeface="Calibri" pitchFamily="34" charset="-122"/>
                <a:cs typeface="Calibri" pitchFamily="34" charset="-120"/>
              </a:rPr>
              <a:t>Students are the primary subjects of the prediction system. When a teacher submits a student's academic metrics, the platform classifies their performance level (Good / Average / At Risk) and immediately generates a personalised AI advisory. The advisory provides the student with an explanation of their predicted outcome, a detailed analysis of the risk factors contributing to their classification, a prioritised action plan targeting their weakest signals, and a full 7-day personalised study schedule. Student progress is tracked over time via the progress timeline, which displays trend charts showing improvement or decline across sessions. If a student receives consecutive At-Risk flags, the alert detection module surfaces a bell notification on the teacher dashboard, ensuring no at-risk student goes unnoticed. All predictions and advisories are stored persistently in SQLite and can be retrieved, filtered, or exported at any time.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 PerformancePredict Model – Build and Train</a:t>
            </a:r>
            <a:endParaRPr lang="en-US" sz="2800" dirty="0"/>
          </a:p>
        </p:txBody>
      </p:sp>
      <p:sp>
        <p:nvSpPr>
          <p:cNvPr id="4" name="Text 2"/>
          <p:cNvSpPr/>
          <p:nvPr/>
        </p:nvSpPr>
        <p:spPr>
          <a:xfrm>
            <a:off x="457200" y="987552"/>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4.1. Import Dataset</a:t>
            </a:r>
            <a:endParaRPr lang="en-US" sz="1600" dirty="0"/>
          </a:p>
        </p:txBody>
      </p:sp>
      <p:sp>
        <p:nvSpPr>
          <p:cNvPr id="5" name="Text 3"/>
          <p:cNvSpPr/>
          <p:nvPr/>
        </p:nvSpPr>
        <p:spPr>
          <a:xfrm>
            <a:off x="457200" y="1298448"/>
            <a:ext cx="8229600" cy="749808"/>
          </a:xfrm>
          <a:prstGeom prst="rect">
            <a:avLst/>
          </a:prstGeom>
          <a:noFill/>
          <a:ln/>
        </p:spPr>
        <p:txBody>
          <a:bodyPr wrap="square" rtlCol="0" anchor="ctr"/>
          <a:lstStyle/>
          <a:p>
            <a:pPr algn="just" indent="0" marL="0">
              <a:buNone/>
            </a:pPr>
            <a:r>
              <a:rPr lang="en-US" sz="1400" dirty="0">
                <a:solidFill>
                  <a:srgbClr val="000000"/>
                </a:solidFill>
                <a:latin typeface="Calibri" pitchFamily="34" charset="0"/>
                <a:ea typeface="Calibri" pitchFamily="34" charset="-122"/>
                <a:cs typeface="Calibri" pitchFamily="34" charset="-120"/>
              </a:rPr>
              <a:t>The system uses a 10,000-row synthetic dataset representing IT department students with 4 features: attendance %, internal marks, assignment score, and study hours per week. Realistic noise (3%) is injected to simulate real-world data imperfections. Labels are Good, Average, and At Risk, class-balanced for fair training.</a:t>
            </a:r>
            <a:endParaRPr lang="en-US" sz="1400" dirty="0"/>
          </a:p>
        </p:txBody>
      </p:sp>
      <p:sp>
        <p:nvSpPr>
          <p:cNvPr id="6" name="Text 4"/>
          <p:cNvSpPr/>
          <p:nvPr/>
        </p:nvSpPr>
        <p:spPr>
          <a:xfrm>
            <a:off x="457200" y="2176272"/>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4.2. Preprocessing and Normalisation</a:t>
            </a:r>
            <a:endParaRPr lang="en-US" sz="1600" dirty="0"/>
          </a:p>
        </p:txBody>
      </p:sp>
      <p:sp>
        <p:nvSpPr>
          <p:cNvPr id="7" name="Text 5"/>
          <p:cNvSpPr/>
          <p:nvPr/>
        </p:nvSpPr>
        <p:spPr>
          <a:xfrm>
            <a:off x="457200" y="2487168"/>
            <a:ext cx="8229600" cy="896112"/>
          </a:xfrm>
          <a:prstGeom prst="rect">
            <a:avLst/>
          </a:prstGeom>
          <a:noFill/>
          <a:ln/>
        </p:spPr>
        <p:txBody>
          <a:bodyPr wrap="square" rtlCol="0" anchor="ctr"/>
          <a:lstStyle/>
          <a:p>
            <a:pPr algn="just" indent="0" marL="0">
              <a:buNone/>
            </a:pPr>
            <a:r>
              <a:rPr lang="en-US" sz="1400" dirty="0">
                <a:solidFill>
                  <a:srgbClr val="000000"/>
                </a:solidFill>
                <a:latin typeface="Calibri" pitchFamily="34" charset="0"/>
                <a:ea typeface="Calibri" pitchFamily="34" charset="-122"/>
                <a:cs typeface="Calibri" pitchFamily="34" charset="-120"/>
              </a:rPr>
              <a:t>Raw data is validated, cleaned, and processed through StandardScaler for feature normalisation. Class imbalance is handled via balanced class weights in the RandomForestClassifier. Data is split 80/20 for training and testing. 5-fold cross-validation is applied to ensure the model generalises beyond the training distribution, achieving a CV score of 89.33%.</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4.3 – 4.5  Feature Extraction, Training &amp; Storage</a:t>
            </a:r>
            <a:endParaRPr lang="en-US" sz="2800" dirty="0"/>
          </a:p>
        </p:txBody>
      </p:sp>
      <p:sp>
        <p:nvSpPr>
          <p:cNvPr id="4" name="Text 2"/>
          <p:cNvSpPr/>
          <p:nvPr/>
        </p:nvSpPr>
        <p:spPr>
          <a:xfrm>
            <a:off x="457200" y="960120"/>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4.3. Feature Extraction and StandardScaler</a:t>
            </a:r>
            <a:endParaRPr lang="en-US" sz="1600" dirty="0"/>
          </a:p>
        </p:txBody>
      </p:sp>
      <p:sp>
        <p:nvSpPr>
          <p:cNvPr id="5" name="Text 3"/>
          <p:cNvSpPr/>
          <p:nvPr/>
        </p:nvSpPr>
        <p:spPr>
          <a:xfrm>
            <a:off x="457200" y="1261872"/>
            <a:ext cx="8229600" cy="658368"/>
          </a:xfrm>
          <a:prstGeom prst="rect">
            <a:avLst/>
          </a:prstGeom>
          <a:noFill/>
          <a:ln/>
        </p:spPr>
        <p:txBody>
          <a:bodyPr wrap="square" rtlCol="0" anchor="ctr"/>
          <a:lstStyle/>
          <a:p>
            <a:pPr algn="just" indent="0" marL="0">
              <a:buNone/>
            </a:pPr>
            <a:r>
              <a:rPr lang="en-US" sz="1300" dirty="0">
                <a:solidFill>
                  <a:srgbClr val="000000"/>
                </a:solidFill>
                <a:latin typeface="Calibri" pitchFamily="34" charset="0"/>
                <a:ea typeface="Calibri" pitchFamily="34" charset="-122"/>
                <a:cs typeface="Calibri" pitchFamily="34" charset="-120"/>
              </a:rPr>
              <a:t>Four structured features drive the classifier: attendance percentage, internal marks, assignment score, and weekly study hours. Each is normalised using StandardScaler to zero mean and unit variance before training and prediction, ensuring consistent feature contribution regardless of scale.</a:t>
            </a:r>
            <a:endParaRPr lang="en-US" sz="1300" dirty="0"/>
          </a:p>
        </p:txBody>
      </p:sp>
      <p:sp>
        <p:nvSpPr>
          <p:cNvPr id="6" name="Text 4"/>
          <p:cNvSpPr/>
          <p:nvPr/>
        </p:nvSpPr>
        <p:spPr>
          <a:xfrm>
            <a:off x="457200" y="1975104"/>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4.4. RandomForestClassifier: Build and Train (200 Trees)</a:t>
            </a:r>
            <a:endParaRPr lang="en-US" sz="1600" dirty="0"/>
          </a:p>
        </p:txBody>
      </p:sp>
      <p:sp>
        <p:nvSpPr>
          <p:cNvPr id="7" name="Text 5"/>
          <p:cNvSpPr/>
          <p:nvPr/>
        </p:nvSpPr>
        <p:spPr>
          <a:xfrm>
            <a:off x="457200" y="2286000"/>
            <a:ext cx="8229600" cy="713232"/>
          </a:xfrm>
          <a:prstGeom prst="rect">
            <a:avLst/>
          </a:prstGeom>
          <a:noFill/>
          <a:ln/>
        </p:spPr>
        <p:txBody>
          <a:bodyPr wrap="square" rtlCol="0" anchor="ctr"/>
          <a:lstStyle/>
          <a:p>
            <a:pPr algn="just" indent="0" marL="0">
              <a:buNone/>
            </a:pPr>
            <a:r>
              <a:rPr lang="en-US" sz="1300" dirty="0">
                <a:solidFill>
                  <a:srgbClr val="000000"/>
                </a:solidFill>
                <a:latin typeface="Calibri" pitchFamily="34" charset="0"/>
                <a:ea typeface="Calibri" pitchFamily="34" charset="-122"/>
                <a:cs typeface="Calibri" pitchFamily="34" charset="-120"/>
              </a:rPr>
              <a:t>RandomForestClassifier with 200 estimators and balanced class weights is trained on 8,000 records. Feature importances are logged post-training. The model achieves 89.45% test accuracy and 89.33% 5-fold cross-validation score. Predictions return a class label (Good / Average / At Risk) and calibrated probability scores.</a:t>
            </a:r>
            <a:endParaRPr lang="en-US" sz="1300" dirty="0"/>
          </a:p>
        </p:txBody>
      </p:sp>
      <p:sp>
        <p:nvSpPr>
          <p:cNvPr id="8" name="Text 6"/>
          <p:cNvSpPr/>
          <p:nvPr/>
        </p:nvSpPr>
        <p:spPr>
          <a:xfrm>
            <a:off x="457200" y="3063240"/>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4.5. Model Storage and Version Management</a:t>
            </a:r>
            <a:endParaRPr lang="en-US" sz="1600" dirty="0"/>
          </a:p>
        </p:txBody>
      </p:sp>
      <p:sp>
        <p:nvSpPr>
          <p:cNvPr id="9" name="Text 7"/>
          <p:cNvSpPr/>
          <p:nvPr/>
        </p:nvSpPr>
        <p:spPr>
          <a:xfrm>
            <a:off x="457200" y="3364992"/>
            <a:ext cx="8229600" cy="685800"/>
          </a:xfrm>
          <a:prstGeom prst="rect">
            <a:avLst/>
          </a:prstGeom>
          <a:noFill/>
          <a:ln/>
        </p:spPr>
        <p:txBody>
          <a:bodyPr wrap="square" rtlCol="0" anchor="ctr"/>
          <a:lstStyle/>
          <a:p>
            <a:pPr algn="just" indent="0" marL="0">
              <a:buNone/>
            </a:pPr>
            <a:r>
              <a:rPr lang="en-US" sz="1300" dirty="0">
                <a:solidFill>
                  <a:srgbClr val="000000"/>
                </a:solidFill>
                <a:latin typeface="Calibri" pitchFamily="34" charset="0"/>
                <a:ea typeface="Calibri" pitchFamily="34" charset="-122"/>
                <a:cs typeface="Calibri" pitchFamily="34" charset="-120"/>
              </a:rPr>
              <a:t>The trained model is serialised (joblib/pickle) and versioned with a timestamp and accuracy record. The training history — accuracy, CV score, feature importances, and training date — is stored in SQLite. The /api/train endpoint allows admin-triggered retraining with live progress feedback.</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 Advisory Caching System</a:t>
            </a:r>
            <a:endParaRPr lang="en-US" sz="2800" dirty="0"/>
          </a:p>
        </p:txBody>
      </p:sp>
      <p:sp>
        <p:nvSpPr>
          <p:cNvPr id="4" name="Text 2"/>
          <p:cNvSpPr/>
          <p:nvPr/>
        </p:nvSpPr>
        <p:spPr>
          <a:xfrm>
            <a:off x="457200" y="960120"/>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5.1. Student Input and Cache Lookup</a:t>
            </a:r>
            <a:endParaRPr lang="en-US" sz="1600" dirty="0"/>
          </a:p>
        </p:txBody>
      </p:sp>
      <p:sp>
        <p:nvSpPr>
          <p:cNvPr id="5" name="Text 3"/>
          <p:cNvSpPr/>
          <p:nvPr/>
        </p:nvSpPr>
        <p:spPr>
          <a:xfrm>
            <a:off x="457200" y="1261872"/>
            <a:ext cx="8229600" cy="658368"/>
          </a:xfrm>
          <a:prstGeom prst="rect">
            <a:avLst/>
          </a:prstGeom>
          <a:noFill/>
          <a:ln/>
        </p:spPr>
        <p:txBody>
          <a:bodyPr wrap="square" rtlCol="0" anchor="ctr"/>
          <a:lstStyle/>
          <a:p>
            <a:pPr algn="just" indent="0" marL="0">
              <a:buNone/>
            </a:pPr>
            <a:r>
              <a:rPr lang="en-US" sz="1400" dirty="0">
                <a:solidFill>
                  <a:srgbClr val="000000"/>
                </a:solidFill>
                <a:latin typeface="Calibri" pitchFamily="34" charset="0"/>
                <a:ea typeface="Calibri" pitchFamily="34" charset="-122"/>
                <a:cs typeface="Calibri" pitchFamily="34" charset="-120"/>
              </a:rPr>
              <a:t>When a prediction request arrives, the system computes a SHA-256 hash of student_id + all 4 metrics. It first checks the in-memory cache (sub-millisecond), then the SQLite persistent cache (survives server restart) for an existing advisory matching that hash.</a:t>
            </a:r>
            <a:endParaRPr lang="en-US" sz="1400" dirty="0"/>
          </a:p>
        </p:txBody>
      </p:sp>
      <p:sp>
        <p:nvSpPr>
          <p:cNvPr id="6" name="Text 4"/>
          <p:cNvSpPr/>
          <p:nvPr/>
        </p:nvSpPr>
        <p:spPr>
          <a:xfrm>
            <a:off x="457200" y="1975104"/>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5.2. Gemini AI Call (Cache MISS only)</a:t>
            </a:r>
            <a:endParaRPr lang="en-US" sz="1600" dirty="0"/>
          </a:p>
        </p:txBody>
      </p:sp>
      <p:sp>
        <p:nvSpPr>
          <p:cNvPr id="7" name="Text 5"/>
          <p:cNvSpPr/>
          <p:nvPr/>
        </p:nvSpPr>
        <p:spPr>
          <a:xfrm>
            <a:off x="457200" y="2276856"/>
            <a:ext cx="8229600" cy="658368"/>
          </a:xfrm>
          <a:prstGeom prst="rect">
            <a:avLst/>
          </a:prstGeom>
          <a:noFill/>
          <a:ln/>
        </p:spPr>
        <p:txBody>
          <a:bodyPr wrap="square" rtlCol="0" anchor="ctr"/>
          <a:lstStyle/>
          <a:p>
            <a:pPr algn="just" indent="0" marL="0">
              <a:buNone/>
            </a:pPr>
            <a:r>
              <a:rPr lang="en-US" sz="1400" dirty="0">
                <a:solidFill>
                  <a:srgbClr val="000000"/>
                </a:solidFill>
                <a:latin typeface="Calibri" pitchFamily="34" charset="0"/>
                <a:ea typeface="Calibri" pitchFamily="34" charset="-122"/>
                <a:cs typeface="Calibri" pitchFamily="34" charset="-120"/>
              </a:rPr>
              <a:t>Only on a cache miss does the system call Gemini 2.5 Flash via the 4-key rotation. The structured prompt requests 4 advisory sections in a single API call. Key exhaustion (quota/rate limit) automatically promotes to the next key, ensuring zero demo failures.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5.3 &amp; 5.4  Cache Store &amp; Instant Repeat Prediction</a:t>
            </a:r>
            <a:endParaRPr lang="en-US" sz="2800" dirty="0"/>
          </a:p>
        </p:txBody>
      </p:sp>
      <p:sp>
        <p:nvSpPr>
          <p:cNvPr id="4" name="Text 2"/>
          <p:cNvSpPr/>
          <p:nvPr/>
        </p:nvSpPr>
        <p:spPr>
          <a:xfrm>
            <a:off x="457200" y="960120"/>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5.3. Advisory Cache Store</a:t>
            </a:r>
            <a:endParaRPr lang="en-US" sz="1600" dirty="0"/>
          </a:p>
        </p:txBody>
      </p:sp>
      <p:sp>
        <p:nvSpPr>
          <p:cNvPr id="5" name="Text 3"/>
          <p:cNvSpPr/>
          <p:nvPr/>
        </p:nvSpPr>
        <p:spPr>
          <a:xfrm>
            <a:off x="457200" y="1261872"/>
            <a:ext cx="8229600" cy="804672"/>
          </a:xfrm>
          <a:prstGeom prst="rect">
            <a:avLst/>
          </a:prstGeom>
          <a:noFill/>
          <a:ln/>
        </p:spPr>
        <p:txBody>
          <a:bodyPr wrap="square" rtlCol="0" anchor="ctr"/>
          <a:lstStyle/>
          <a:p>
            <a:pPr algn="just" indent="0" marL="0">
              <a:buNone/>
            </a:pPr>
            <a:r>
              <a:rPr lang="en-US" sz="1300" dirty="0">
                <a:solidFill>
                  <a:srgbClr val="000000"/>
                </a:solidFill>
                <a:latin typeface="Calibri" pitchFamily="34" charset="0"/>
                <a:ea typeface="Calibri" pitchFamily="34" charset="-122"/>
                <a:cs typeface="Calibri" pitchFamily="34" charset="-120"/>
              </a:rPr>
              <a:t>The Gemini-generated advisory is stored in both the in-memory dict and the SQLite advisory_cache table, keyed by the SHA-256 hash. SQLite persistence means the cache survives server restarts — advisories generated in a previous session are instantly available in the next. The demo_seed module pre-populates 25 Tamil-named IT student advisories into the cache on first run.</a:t>
            </a:r>
            <a:endParaRPr lang="en-US" sz="1300" dirty="0"/>
          </a:p>
        </p:txBody>
      </p:sp>
      <p:sp>
        <p:nvSpPr>
          <p:cNvPr id="6" name="Text 4"/>
          <p:cNvSpPr/>
          <p:nvPr/>
        </p:nvSpPr>
        <p:spPr>
          <a:xfrm>
            <a:off x="457200" y="2148840"/>
            <a:ext cx="8229600" cy="301752"/>
          </a:xfrm>
          <a:prstGeom prst="rect">
            <a:avLst/>
          </a:prstGeom>
          <a:noFill/>
          <a:ln/>
        </p:spPr>
        <p:txBody>
          <a:bodyPr wrap="square"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5.4. Instant Repeat Prediction (~400 ms)</a:t>
            </a:r>
            <a:endParaRPr lang="en-US" sz="1600" dirty="0"/>
          </a:p>
        </p:txBody>
      </p:sp>
      <p:sp>
        <p:nvSpPr>
          <p:cNvPr id="7" name="Text 5"/>
          <p:cNvSpPr/>
          <p:nvPr/>
        </p:nvSpPr>
        <p:spPr>
          <a:xfrm>
            <a:off x="457200" y="2450592"/>
            <a:ext cx="8229600" cy="960120"/>
          </a:xfrm>
          <a:prstGeom prst="rect">
            <a:avLst/>
          </a:prstGeom>
          <a:noFill/>
          <a:ln/>
        </p:spPr>
        <p:txBody>
          <a:bodyPr wrap="square" rtlCol="0" anchor="ctr"/>
          <a:lstStyle/>
          <a:p>
            <a:pPr algn="just" indent="0" marL="0">
              <a:buNone/>
            </a:pPr>
            <a:r>
              <a:rPr lang="en-US" sz="1300" dirty="0">
                <a:solidFill>
                  <a:srgbClr val="000000"/>
                </a:solidFill>
                <a:latin typeface="Calibri" pitchFamily="34" charset="0"/>
                <a:ea typeface="Calibri" pitchFamily="34" charset="-122"/>
                <a:cs typeface="Calibri" pitchFamily="34" charset="-120"/>
              </a:rPr>
              <a:t>On a cache HIT, the full 4-section advisory is returned in approximately 400 ms — no Gemini API call, no quota consumed, no rate-limit risk. The demo reset flow (POST /api/demo/reset) checks whether advisory_cache contains ≥25 records: if YES, _seed_from_cache() completes in ~3 seconds from cached data. If NO, full AI seeding runs with a 4-second inter-call delay to respect rate limits. This architecture was previously 13+ minutes per demo reset; it is now 3 seconds — a 260× improvement.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 Risk Level Indicator</a:t>
            </a:r>
            <a:endParaRPr lang="en-US" sz="2800" dirty="0"/>
          </a:p>
        </p:txBody>
      </p:sp>
      <p:sp>
        <p:nvSpPr>
          <p:cNvPr id="4" name="Text 2"/>
          <p:cNvSpPr/>
          <p:nvPr/>
        </p:nvSpPr>
        <p:spPr>
          <a:xfrm>
            <a:off x="457200" y="960120"/>
            <a:ext cx="8229600" cy="3977640"/>
          </a:xfrm>
          <a:prstGeom prst="rect">
            <a:avLst/>
          </a:prstGeom>
          <a:noFill/>
          <a:ln/>
        </p:spPr>
        <p:txBody>
          <a:bodyPr wrap="square" rtlCol="0" anchor="t"/>
          <a:lstStyle/>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Transforms the RandomForest classification output into a colour-coded risk badge: Good (green), Average (amber), At Risk (red).</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Displays probability scores alongside the label — e.g., 'At Risk (confidence: 87%)' — enabling teachers to gauge prediction strength.</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The indicator uses model confidence scores and feature contribution weights to highlight the single most impactful metric driving the classification.</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Section-level breakdowns are displayed: which of the 4 features (attendance, marks, assignment, study hours) is weakest for that student.</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Risk badges are displayed on the prediction page, dashboard, history table, and class rankings leaderboard for consistent at-a-glance visibility.</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 Consecutive At-Risk Alert Detector</a:t>
            </a:r>
            <a:endParaRPr lang="en-US" sz="2800" dirty="0"/>
          </a:p>
        </p:txBody>
      </p:sp>
      <p:sp>
        <p:nvSpPr>
          <p:cNvPr id="4" name="Text 2"/>
          <p:cNvSpPr/>
          <p:nvPr/>
        </p:nvSpPr>
        <p:spPr>
          <a:xfrm>
            <a:off x="457200" y="960120"/>
            <a:ext cx="8229600" cy="3977640"/>
          </a:xfrm>
          <a:prstGeom prst="rect">
            <a:avLst/>
          </a:prstGeom>
          <a:noFill/>
          <a:ln/>
        </p:spPr>
        <p:txBody>
          <a:bodyPr wrap="square" rtlCol="0" anchor="t"/>
          <a:lstStyle/>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Monitors prediction history per student and flags any student who receives consecutive At-Risk classifications across sessions.</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When consecutive At-Risk flags are detected, a bell notification is surfaced in the teacher dashboard's Alerts page with the student name, session count, and latest metrics.</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Alert severity escalates with the number of consecutive flags — 2 consecutive = Warning, 3+ = Critical — prompting immediate teacher action.</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Alerts persist in SQLite and are accessible via GET /api/alerts, ensuring no at-risk trend is lost between sessions.</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Teachers can acknowledge alerts, add intervention notes, and track resolution — creating a closed-loop student monitoring workflow.</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 Behaviour Clustering (t-SNE + KMeans)</a:t>
            </a:r>
            <a:endParaRPr lang="en-US" sz="2800" dirty="0"/>
          </a:p>
        </p:txBody>
      </p:sp>
      <p:sp>
        <p:nvSpPr>
          <p:cNvPr id="4" name="Text 2"/>
          <p:cNvSpPr/>
          <p:nvPr/>
        </p:nvSpPr>
        <p:spPr>
          <a:xfrm>
            <a:off x="457200" y="960120"/>
            <a:ext cx="8229600" cy="3977640"/>
          </a:xfrm>
          <a:prstGeom prst="rect">
            <a:avLst/>
          </a:prstGeom>
          <a:noFill/>
          <a:ln/>
        </p:spPr>
        <p:txBody>
          <a:bodyPr wrap="square" rtlCol="0" anchor="t"/>
          <a:lstStyle/>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Applies unsupervised learning to discover natural student behaviour patterns beyond the supervised Good/Average/At Risk labels.</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t-SNE dimensionality reduction compresses 4-feature student vectors to 2D coordinates for visual cluster plotting on the Clustering Page.</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KMeans clustering is run for k=2 through k=8; the Elbow Method plots inertia vs k to reveal diminishing returns, while Silhouette Score sweep auto-selects the mathematically optimal k.</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This dual-validation (Elbow + Silhouette) makes the cluster count academically justifiable to IEEE evaluators — no arbitrary k selection.</a:t>
            </a:r>
            <a:endParaRPr lang="en-US" sz="1500" dirty="0"/>
          </a:p>
          <a:p>
            <a:pPr indent="0" marL="0">
              <a:buNone/>
            </a:pPr>
            <a:r>
              <a:rPr lang="en-US" sz="1500" b="1" dirty="0">
                <a:solidFill>
                  <a:srgbClr val="1565C0"/>
                </a:solidFill>
                <a:latin typeface="Calibri" pitchFamily="34" charset="0"/>
                <a:ea typeface="Calibri" pitchFamily="34" charset="-122"/>
                <a:cs typeface="Calibri" pitchFamily="34" charset="-120"/>
              </a:rPr>
              <a:t>▶  </a:t>
            </a:r>
            <a:pPr indent="0" marL="0">
              <a:spcAft>
                <a:spcPts val="900"/>
              </a:spcAft>
              <a:buNone/>
            </a:pPr>
            <a:r>
              <a:rPr lang="en-US" sz="1500" dirty="0">
                <a:solidFill>
                  <a:srgbClr val="000000"/>
                </a:solidFill>
                <a:latin typeface="Calibri" pitchFamily="34" charset="0"/>
                <a:ea typeface="Calibri" pitchFamily="34" charset="-122"/>
                <a:cs typeface="Calibri" pitchFamily="34" charset="-120"/>
              </a:rPr>
              <a:t>Each cluster receives a 2–3 sentence plain-English AI-derived teacher insight based on average feature values, helping staff identify patterns without ML expertise.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Source Code</a:t>
            </a:r>
            <a:endParaRPr lang="en-US" sz="2800" dirty="0"/>
          </a:p>
        </p:txBody>
      </p:sp>
      <p:sp>
        <p:nvSpPr>
          <p:cNvPr id="4" name="Shape 2"/>
          <p:cNvSpPr/>
          <p:nvPr/>
        </p:nvSpPr>
        <p:spPr>
          <a:xfrm>
            <a:off x="274320" y="960120"/>
            <a:ext cx="5120640" cy="3977640"/>
          </a:xfrm>
          <a:prstGeom prst="rect">
            <a:avLst/>
          </a:prstGeom>
          <a:solidFill>
            <a:srgbClr val="F4F4F4"/>
          </a:solidFill>
          <a:ln w="12700">
            <a:solidFill>
              <a:srgbClr val="CCCCCC"/>
            </a:solidFill>
            <a:prstDash val="solid"/>
          </a:ln>
        </p:spPr>
      </p:sp>
      <p:sp>
        <p:nvSpPr>
          <p:cNvPr id="5" name="Text 3"/>
          <p:cNvSpPr/>
          <p:nvPr/>
        </p:nvSpPr>
        <p:spPr>
          <a:xfrm>
            <a:off x="365760" y="1005840"/>
            <a:ext cx="4937760" cy="3840480"/>
          </a:xfrm>
          <a:prstGeom prst="rect">
            <a:avLst/>
          </a:prstGeom>
          <a:noFill/>
          <a:ln/>
        </p:spPr>
        <p:txBody>
          <a:bodyPr wrap="square" rtlCol="0" anchor="t"/>
          <a:lstStyle/>
          <a:p>
            <a:pPr indent="0" marL="0">
              <a:buNone/>
            </a:pPr>
            <a:r>
              <a:rPr lang="en-US" sz="1050" dirty="0">
                <a:solidFill>
                  <a:srgbClr val="1A1A1A"/>
                </a:solidFill>
                <a:latin typeface="Courier New" pitchFamily="34" charset="0"/>
                <a:ea typeface="Courier New" pitchFamily="34" charset="-122"/>
                <a:cs typeface="Courier New" pitchFamily="34" charset="-120"/>
              </a:rPr>
              <a:t># Advisory Pipeline (advisor.py)</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def get_advisory(student_id, metrics):</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cache_key = sha256(student_id+metrics)</a:t>
            </a:r>
            <a:endParaRPr lang="en-US" sz="1050" dirty="0"/>
          </a:p>
          <a:p>
            <a:pPr indent="0" marL="0">
              <a:buNone/>
            </a:pP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 1. In-memory cache check</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if cache_key in memory_cache:</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return memory_cache[cache_key]</a:t>
            </a:r>
            <a:endParaRPr lang="en-US" sz="1050" dirty="0"/>
          </a:p>
          <a:p>
            <a:pPr indent="0" marL="0">
              <a:buNone/>
            </a:pP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 2. SQLite persistent cache</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cached = db.get_advisory(cache_key)</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if cached:</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memory_cache[cache_key] = cached</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return cached</a:t>
            </a:r>
            <a:endParaRPr lang="en-US" sz="1050" dirty="0"/>
          </a:p>
          <a:p>
            <a:pPr indent="0" marL="0">
              <a:buNone/>
            </a:pP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 3. Gemini 4-key rotation</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for key in GEMINI_KEYS:</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try:</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advisory = call_gemini(key, metrics)</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db.store_advisory(cache_key, advisory)</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memory_cache[cache_key] = advisory</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return advisory</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except QuotaError:</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continue</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raise RuntimeError("All keys exhausted")</a:t>
            </a:r>
            <a:endParaRPr lang="en-US" sz="1050" dirty="0"/>
          </a:p>
        </p:txBody>
      </p:sp>
      <p:sp>
        <p:nvSpPr>
          <p:cNvPr id="6" name="Shape 4"/>
          <p:cNvSpPr/>
          <p:nvPr/>
        </p:nvSpPr>
        <p:spPr>
          <a:xfrm>
            <a:off x="5532120" y="960120"/>
            <a:ext cx="3337560" cy="3977640"/>
          </a:xfrm>
          <a:prstGeom prst="rect">
            <a:avLst/>
          </a:prstGeom>
          <a:solidFill>
            <a:srgbClr val="F4F4F4"/>
          </a:solidFill>
          <a:ln w="12700">
            <a:solidFill>
              <a:srgbClr val="CCCCCC"/>
            </a:solidFill>
            <a:prstDash val="solid"/>
          </a:ln>
        </p:spPr>
      </p:sp>
      <p:sp>
        <p:nvSpPr>
          <p:cNvPr id="7" name="Text 5"/>
          <p:cNvSpPr/>
          <p:nvPr/>
        </p:nvSpPr>
        <p:spPr>
          <a:xfrm>
            <a:off x="5577840" y="1005840"/>
            <a:ext cx="3200400" cy="3840480"/>
          </a:xfrm>
          <a:prstGeom prst="rect">
            <a:avLst/>
          </a:prstGeom>
          <a:noFill/>
          <a:ln/>
        </p:spPr>
        <p:txBody>
          <a:bodyPr wrap="square" rtlCol="0" anchor="t"/>
          <a:lstStyle/>
          <a:p>
            <a:pPr indent="0" marL="0">
              <a:buNone/>
            </a:pPr>
            <a:r>
              <a:rPr lang="en-US" sz="1050" dirty="0">
                <a:solidFill>
                  <a:srgbClr val="1A1A1A"/>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"student_id": "IT4A_023",</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"name": "Kavitha S",</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"prediction": "At Risk",</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"confidence": 0.87,</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"advisory": {</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"explanation":</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"Attendance 48% is the</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primary risk driver...",</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"risk_factors": [</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"Attendance: 48%",</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"Study hours: 1.2/day"</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"action_plan": [</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"Attend all classes",</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"Daily 2-hr study target"</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"study_schedule":</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"Mon: Math 2hr..."</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 "cached": true</a:t>
            </a:r>
            <a:endParaRPr lang="en-US" sz="1050" dirty="0"/>
          </a:p>
          <a:p>
            <a:pPr indent="0" marL="0">
              <a:buNone/>
            </a:pPr>
            <a:r>
              <a:rPr lang="en-US" sz="1050" dirty="0">
                <a:solidFill>
                  <a:srgbClr val="1A1A1A"/>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System Requirements</a:t>
            </a:r>
            <a:endParaRPr lang="en-US" sz="2800" dirty="0"/>
          </a:p>
        </p:txBody>
      </p:sp>
      <p:sp>
        <p:nvSpPr>
          <p:cNvPr id="4" name="Text 2"/>
          <p:cNvSpPr/>
          <p:nvPr/>
        </p:nvSpPr>
        <p:spPr>
          <a:xfrm>
            <a:off x="457200" y="960120"/>
            <a:ext cx="8229600" cy="320040"/>
          </a:xfrm>
          <a:prstGeom prst="rect">
            <a:avLst/>
          </a:prstGeom>
          <a:noFill/>
          <a:ln/>
        </p:spPr>
        <p:txBody>
          <a:bodyPr wrap="square" rtlCol="0" anchor="ctr"/>
          <a:lstStyle/>
          <a:p>
            <a:pPr indent="0" marL="0">
              <a:buNone/>
            </a:pPr>
            <a:r>
              <a:rPr lang="en-US" sz="1700" b="1" dirty="0">
                <a:solidFill>
                  <a:srgbClr val="1565C0"/>
                </a:solidFill>
                <a:latin typeface="Calibri" pitchFamily="34" charset="0"/>
                <a:ea typeface="Calibri" pitchFamily="34" charset="-122"/>
                <a:cs typeface="Calibri" pitchFamily="34" charset="-120"/>
              </a:rPr>
              <a:t>Hardware Requirements</a:t>
            </a:r>
            <a:endParaRPr lang="en-US" sz="1700" dirty="0"/>
          </a:p>
        </p:txBody>
      </p:sp>
      <p:sp>
        <p:nvSpPr>
          <p:cNvPr id="5" name="Shape 3"/>
          <p:cNvSpPr/>
          <p:nvPr/>
        </p:nvSpPr>
        <p:spPr>
          <a:xfrm>
            <a:off x="457200" y="1325880"/>
            <a:ext cx="2560320" cy="393192"/>
          </a:xfrm>
          <a:prstGeom prst="rect">
            <a:avLst/>
          </a:prstGeom>
          <a:solidFill>
            <a:srgbClr val="1565C0"/>
          </a:solidFill>
          <a:ln w="12700">
            <a:solidFill>
              <a:srgbClr val="1565C0"/>
            </a:solidFill>
            <a:prstDash val="solid"/>
          </a:ln>
        </p:spPr>
      </p:sp>
      <p:sp>
        <p:nvSpPr>
          <p:cNvPr id="6" name="Text 4"/>
          <p:cNvSpPr/>
          <p:nvPr/>
        </p:nvSpPr>
        <p:spPr>
          <a:xfrm>
            <a:off x="457200" y="1325880"/>
            <a:ext cx="2560320" cy="3931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Processor</a:t>
            </a:r>
            <a:endParaRPr lang="en-US" sz="1300" dirty="0"/>
          </a:p>
        </p:txBody>
      </p:sp>
      <p:sp>
        <p:nvSpPr>
          <p:cNvPr id="7" name="Shape 5"/>
          <p:cNvSpPr/>
          <p:nvPr/>
        </p:nvSpPr>
        <p:spPr>
          <a:xfrm>
            <a:off x="3063240" y="1325880"/>
            <a:ext cx="5577840" cy="393192"/>
          </a:xfrm>
          <a:prstGeom prst="rect">
            <a:avLst/>
          </a:prstGeom>
          <a:solidFill>
            <a:srgbClr val="EEF3FF"/>
          </a:solidFill>
          <a:ln w="12700">
            <a:solidFill>
              <a:srgbClr val="AAAAAA"/>
            </a:solidFill>
            <a:prstDash val="solid"/>
          </a:ln>
        </p:spPr>
      </p:sp>
      <p:sp>
        <p:nvSpPr>
          <p:cNvPr id="8" name="Text 6"/>
          <p:cNvSpPr/>
          <p:nvPr/>
        </p:nvSpPr>
        <p:spPr>
          <a:xfrm>
            <a:off x="3154680" y="1325880"/>
            <a:ext cx="5394960" cy="393192"/>
          </a:xfrm>
          <a:prstGeom prst="rect">
            <a:avLst/>
          </a:prstGeom>
          <a:noFill/>
          <a:ln/>
        </p:spPr>
        <p:txBody>
          <a:bodyPr wrap="square" rtlCol="0" anchor="ctr"/>
          <a:lstStyle/>
          <a:p>
            <a:pPr algn="l" indent="0" marL="0">
              <a:buNone/>
            </a:pPr>
            <a:r>
              <a:rPr lang="en-US" sz="1300" dirty="0">
                <a:solidFill>
                  <a:srgbClr val="000000"/>
                </a:solidFill>
                <a:latin typeface="Calibri" pitchFamily="34" charset="0"/>
                <a:ea typeface="Calibri" pitchFamily="34" charset="-122"/>
                <a:cs typeface="Calibri" pitchFamily="34" charset="-120"/>
              </a:rPr>
              <a:t>Intel i5 / AMD Ryzen 5 or equivalent (minimum)</a:t>
            </a:r>
            <a:endParaRPr lang="en-US" sz="1300" dirty="0"/>
          </a:p>
        </p:txBody>
      </p:sp>
      <p:sp>
        <p:nvSpPr>
          <p:cNvPr id="9" name="Shape 7"/>
          <p:cNvSpPr/>
          <p:nvPr/>
        </p:nvSpPr>
        <p:spPr>
          <a:xfrm>
            <a:off x="457200" y="1801368"/>
            <a:ext cx="2560320" cy="393192"/>
          </a:xfrm>
          <a:prstGeom prst="rect">
            <a:avLst/>
          </a:prstGeom>
          <a:solidFill>
            <a:srgbClr val="1565C0"/>
          </a:solidFill>
          <a:ln w="12700">
            <a:solidFill>
              <a:srgbClr val="1565C0"/>
            </a:solidFill>
            <a:prstDash val="solid"/>
          </a:ln>
        </p:spPr>
      </p:sp>
      <p:sp>
        <p:nvSpPr>
          <p:cNvPr id="10" name="Text 8"/>
          <p:cNvSpPr/>
          <p:nvPr/>
        </p:nvSpPr>
        <p:spPr>
          <a:xfrm>
            <a:off x="457200" y="1801368"/>
            <a:ext cx="2560320" cy="3931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RAM</a:t>
            </a:r>
            <a:endParaRPr lang="en-US" sz="1300" dirty="0"/>
          </a:p>
        </p:txBody>
      </p:sp>
      <p:sp>
        <p:nvSpPr>
          <p:cNvPr id="11" name="Shape 9"/>
          <p:cNvSpPr/>
          <p:nvPr/>
        </p:nvSpPr>
        <p:spPr>
          <a:xfrm>
            <a:off x="3063240" y="1801368"/>
            <a:ext cx="5577840" cy="393192"/>
          </a:xfrm>
          <a:prstGeom prst="rect">
            <a:avLst/>
          </a:prstGeom>
          <a:solidFill>
            <a:srgbClr val="EEF3FF"/>
          </a:solidFill>
          <a:ln w="12700">
            <a:solidFill>
              <a:srgbClr val="AAAAAA"/>
            </a:solidFill>
            <a:prstDash val="solid"/>
          </a:ln>
        </p:spPr>
      </p:sp>
      <p:sp>
        <p:nvSpPr>
          <p:cNvPr id="12" name="Text 10"/>
          <p:cNvSpPr/>
          <p:nvPr/>
        </p:nvSpPr>
        <p:spPr>
          <a:xfrm>
            <a:off x="3154680" y="1801368"/>
            <a:ext cx="5394960" cy="393192"/>
          </a:xfrm>
          <a:prstGeom prst="rect">
            <a:avLst/>
          </a:prstGeom>
          <a:noFill/>
          <a:ln/>
        </p:spPr>
        <p:txBody>
          <a:bodyPr wrap="square" rtlCol="0" anchor="ctr"/>
          <a:lstStyle/>
          <a:p>
            <a:pPr algn="l" indent="0" marL="0">
              <a:buNone/>
            </a:pPr>
            <a:r>
              <a:rPr lang="en-US" sz="1300" dirty="0">
                <a:solidFill>
                  <a:srgbClr val="000000"/>
                </a:solidFill>
                <a:latin typeface="Calibri" pitchFamily="34" charset="0"/>
                <a:ea typeface="Calibri" pitchFamily="34" charset="-122"/>
                <a:cs typeface="Calibri" pitchFamily="34" charset="-120"/>
              </a:rPr>
              <a:t>16 GB or higher</a:t>
            </a:r>
            <a:endParaRPr lang="en-US" sz="1300" dirty="0"/>
          </a:p>
        </p:txBody>
      </p:sp>
      <p:sp>
        <p:nvSpPr>
          <p:cNvPr id="13" name="Shape 11"/>
          <p:cNvSpPr/>
          <p:nvPr/>
        </p:nvSpPr>
        <p:spPr>
          <a:xfrm>
            <a:off x="457200" y="2276856"/>
            <a:ext cx="2560320" cy="393192"/>
          </a:xfrm>
          <a:prstGeom prst="rect">
            <a:avLst/>
          </a:prstGeom>
          <a:solidFill>
            <a:srgbClr val="1565C0"/>
          </a:solidFill>
          <a:ln w="12700">
            <a:solidFill>
              <a:srgbClr val="1565C0"/>
            </a:solidFill>
            <a:prstDash val="solid"/>
          </a:ln>
        </p:spPr>
      </p:sp>
      <p:sp>
        <p:nvSpPr>
          <p:cNvPr id="14" name="Text 12"/>
          <p:cNvSpPr/>
          <p:nvPr/>
        </p:nvSpPr>
        <p:spPr>
          <a:xfrm>
            <a:off x="457200" y="2276856"/>
            <a:ext cx="2560320" cy="3931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Storage</a:t>
            </a:r>
            <a:endParaRPr lang="en-US" sz="1300" dirty="0"/>
          </a:p>
        </p:txBody>
      </p:sp>
      <p:sp>
        <p:nvSpPr>
          <p:cNvPr id="15" name="Shape 13"/>
          <p:cNvSpPr/>
          <p:nvPr/>
        </p:nvSpPr>
        <p:spPr>
          <a:xfrm>
            <a:off x="3063240" y="2276856"/>
            <a:ext cx="5577840" cy="393192"/>
          </a:xfrm>
          <a:prstGeom prst="rect">
            <a:avLst/>
          </a:prstGeom>
          <a:solidFill>
            <a:srgbClr val="EEF3FF"/>
          </a:solidFill>
          <a:ln w="12700">
            <a:solidFill>
              <a:srgbClr val="AAAAAA"/>
            </a:solidFill>
            <a:prstDash val="solid"/>
          </a:ln>
        </p:spPr>
      </p:sp>
      <p:sp>
        <p:nvSpPr>
          <p:cNvPr id="16" name="Text 14"/>
          <p:cNvSpPr/>
          <p:nvPr/>
        </p:nvSpPr>
        <p:spPr>
          <a:xfrm>
            <a:off x="3154680" y="2276856"/>
            <a:ext cx="5394960" cy="393192"/>
          </a:xfrm>
          <a:prstGeom prst="rect">
            <a:avLst/>
          </a:prstGeom>
          <a:noFill/>
          <a:ln/>
        </p:spPr>
        <p:txBody>
          <a:bodyPr wrap="square" rtlCol="0" anchor="ctr"/>
          <a:lstStyle/>
          <a:p>
            <a:pPr algn="l" indent="0" marL="0">
              <a:buNone/>
            </a:pPr>
            <a:r>
              <a:rPr lang="en-US" sz="1300" dirty="0">
                <a:solidFill>
                  <a:srgbClr val="000000"/>
                </a:solidFill>
                <a:latin typeface="Calibri" pitchFamily="34" charset="0"/>
                <a:ea typeface="Calibri" pitchFamily="34" charset="-122"/>
                <a:cs typeface="Calibri" pitchFamily="34" charset="-120"/>
              </a:rPr>
              <a:t>512 GB SSD (recommended for faster processing)</a:t>
            </a:r>
            <a:endParaRPr lang="en-US" sz="1300" dirty="0"/>
          </a:p>
        </p:txBody>
      </p:sp>
      <p:sp>
        <p:nvSpPr>
          <p:cNvPr id="17" name="Text 15"/>
          <p:cNvSpPr/>
          <p:nvPr/>
        </p:nvSpPr>
        <p:spPr>
          <a:xfrm>
            <a:off x="457200" y="2871216"/>
            <a:ext cx="8229600" cy="320040"/>
          </a:xfrm>
          <a:prstGeom prst="rect">
            <a:avLst/>
          </a:prstGeom>
          <a:noFill/>
          <a:ln/>
        </p:spPr>
        <p:txBody>
          <a:bodyPr wrap="square" rtlCol="0" anchor="ctr"/>
          <a:lstStyle/>
          <a:p>
            <a:pPr indent="0" marL="0">
              <a:buNone/>
            </a:pPr>
            <a:r>
              <a:rPr lang="en-US" sz="1700" b="1" dirty="0">
                <a:solidFill>
                  <a:srgbClr val="1565C0"/>
                </a:solidFill>
                <a:latin typeface="Calibri" pitchFamily="34" charset="0"/>
                <a:ea typeface="Calibri" pitchFamily="34" charset="-122"/>
                <a:cs typeface="Calibri" pitchFamily="34" charset="-120"/>
              </a:rPr>
              <a:t>Software Requirements</a:t>
            </a:r>
            <a:endParaRPr lang="en-US" sz="1700" dirty="0"/>
          </a:p>
        </p:txBody>
      </p:sp>
      <p:sp>
        <p:nvSpPr>
          <p:cNvPr id="18" name="Shape 16"/>
          <p:cNvSpPr/>
          <p:nvPr/>
        </p:nvSpPr>
        <p:spPr>
          <a:xfrm>
            <a:off x="457200" y="3236976"/>
            <a:ext cx="2560320" cy="329184"/>
          </a:xfrm>
          <a:prstGeom prst="rect">
            <a:avLst/>
          </a:prstGeom>
          <a:solidFill>
            <a:srgbClr val="1565C0"/>
          </a:solidFill>
          <a:ln w="12700">
            <a:solidFill>
              <a:srgbClr val="1565C0"/>
            </a:solidFill>
            <a:prstDash val="solid"/>
          </a:ln>
        </p:spPr>
      </p:sp>
      <p:sp>
        <p:nvSpPr>
          <p:cNvPr id="19" name="Text 17"/>
          <p:cNvSpPr/>
          <p:nvPr/>
        </p:nvSpPr>
        <p:spPr>
          <a:xfrm>
            <a:off x="457200" y="3236976"/>
            <a:ext cx="256032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Operating System</a:t>
            </a:r>
            <a:endParaRPr lang="en-US" sz="1200" dirty="0"/>
          </a:p>
        </p:txBody>
      </p:sp>
      <p:sp>
        <p:nvSpPr>
          <p:cNvPr id="20" name="Shape 18"/>
          <p:cNvSpPr/>
          <p:nvPr/>
        </p:nvSpPr>
        <p:spPr>
          <a:xfrm>
            <a:off x="3063240" y="3236976"/>
            <a:ext cx="5577840" cy="329184"/>
          </a:xfrm>
          <a:prstGeom prst="rect">
            <a:avLst/>
          </a:prstGeom>
          <a:solidFill>
            <a:srgbClr val="EEF3FF"/>
          </a:solidFill>
          <a:ln w="12700">
            <a:solidFill>
              <a:srgbClr val="AAAAAA"/>
            </a:solidFill>
            <a:prstDash val="solid"/>
          </a:ln>
        </p:spPr>
      </p:sp>
      <p:sp>
        <p:nvSpPr>
          <p:cNvPr id="21" name="Text 19"/>
          <p:cNvSpPr/>
          <p:nvPr/>
        </p:nvSpPr>
        <p:spPr>
          <a:xfrm>
            <a:off x="3154680" y="3236976"/>
            <a:ext cx="5394960" cy="329184"/>
          </a:xfrm>
          <a:prstGeom prst="rect">
            <a:avLst/>
          </a:prstGeom>
          <a:noFill/>
          <a:ln/>
        </p:spPr>
        <p:txBody>
          <a:bodyPr wrap="square" rtlCol="0" anchor="ctr"/>
          <a:lstStyle/>
          <a:p>
            <a:pPr algn="l" indent="0" marL="0">
              <a:buNone/>
            </a:pPr>
            <a:r>
              <a:rPr lang="en-US" sz="1200" dirty="0">
                <a:solidFill>
                  <a:srgbClr val="000000"/>
                </a:solidFill>
                <a:latin typeface="Calibri" pitchFamily="34" charset="0"/>
                <a:ea typeface="Calibri" pitchFamily="34" charset="-122"/>
                <a:cs typeface="Calibri" pitchFamily="34" charset="-120"/>
              </a:rPr>
              <a:t>Windows / Linux</a:t>
            </a:r>
            <a:endParaRPr lang="en-US" sz="1200" dirty="0"/>
          </a:p>
        </p:txBody>
      </p:sp>
      <p:sp>
        <p:nvSpPr>
          <p:cNvPr id="22" name="Shape 20"/>
          <p:cNvSpPr/>
          <p:nvPr/>
        </p:nvSpPr>
        <p:spPr>
          <a:xfrm>
            <a:off x="457200" y="3602736"/>
            <a:ext cx="2560320" cy="329184"/>
          </a:xfrm>
          <a:prstGeom prst="rect">
            <a:avLst/>
          </a:prstGeom>
          <a:solidFill>
            <a:srgbClr val="1565C0"/>
          </a:solidFill>
          <a:ln w="12700">
            <a:solidFill>
              <a:srgbClr val="1565C0"/>
            </a:solidFill>
            <a:prstDash val="solid"/>
          </a:ln>
        </p:spPr>
      </p:sp>
      <p:sp>
        <p:nvSpPr>
          <p:cNvPr id="23" name="Text 21"/>
          <p:cNvSpPr/>
          <p:nvPr/>
        </p:nvSpPr>
        <p:spPr>
          <a:xfrm>
            <a:off x="457200" y="3602736"/>
            <a:ext cx="256032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Backend</a:t>
            </a:r>
            <a:endParaRPr lang="en-US" sz="1200" dirty="0"/>
          </a:p>
        </p:txBody>
      </p:sp>
      <p:sp>
        <p:nvSpPr>
          <p:cNvPr id="24" name="Shape 22"/>
          <p:cNvSpPr/>
          <p:nvPr/>
        </p:nvSpPr>
        <p:spPr>
          <a:xfrm>
            <a:off x="3063240" y="3602736"/>
            <a:ext cx="5577840" cy="329184"/>
          </a:xfrm>
          <a:prstGeom prst="rect">
            <a:avLst/>
          </a:prstGeom>
          <a:solidFill>
            <a:srgbClr val="EEF3FF"/>
          </a:solidFill>
          <a:ln w="12700">
            <a:solidFill>
              <a:srgbClr val="AAAAAA"/>
            </a:solidFill>
            <a:prstDash val="solid"/>
          </a:ln>
        </p:spPr>
      </p:sp>
      <p:sp>
        <p:nvSpPr>
          <p:cNvPr id="25" name="Text 23"/>
          <p:cNvSpPr/>
          <p:nvPr/>
        </p:nvSpPr>
        <p:spPr>
          <a:xfrm>
            <a:off x="3154680" y="3602736"/>
            <a:ext cx="5394960" cy="329184"/>
          </a:xfrm>
          <a:prstGeom prst="rect">
            <a:avLst/>
          </a:prstGeom>
          <a:noFill/>
          <a:ln/>
        </p:spPr>
        <p:txBody>
          <a:bodyPr wrap="square" rtlCol="0" anchor="ctr"/>
          <a:lstStyle/>
          <a:p>
            <a:pPr algn="l" indent="0" marL="0">
              <a:buNone/>
            </a:pPr>
            <a:r>
              <a:rPr lang="en-US" sz="1200" dirty="0">
                <a:solidFill>
                  <a:srgbClr val="000000"/>
                </a:solidFill>
                <a:latin typeface="Calibri" pitchFamily="34" charset="0"/>
                <a:ea typeface="Calibri" pitchFamily="34" charset="-122"/>
                <a:cs typeface="Calibri" pitchFamily="34" charset="-120"/>
              </a:rPr>
              <a:t>Python 3.11, FastAPI, Uvicorn</a:t>
            </a:r>
            <a:endParaRPr lang="en-US" sz="1200" dirty="0"/>
          </a:p>
        </p:txBody>
      </p:sp>
      <p:sp>
        <p:nvSpPr>
          <p:cNvPr id="26" name="Shape 24"/>
          <p:cNvSpPr/>
          <p:nvPr/>
        </p:nvSpPr>
        <p:spPr>
          <a:xfrm>
            <a:off x="457200" y="3968496"/>
            <a:ext cx="2560320" cy="329184"/>
          </a:xfrm>
          <a:prstGeom prst="rect">
            <a:avLst/>
          </a:prstGeom>
          <a:solidFill>
            <a:srgbClr val="1565C0"/>
          </a:solidFill>
          <a:ln w="12700">
            <a:solidFill>
              <a:srgbClr val="1565C0"/>
            </a:solidFill>
            <a:prstDash val="solid"/>
          </a:ln>
        </p:spPr>
      </p:sp>
      <p:sp>
        <p:nvSpPr>
          <p:cNvPr id="27" name="Text 25"/>
          <p:cNvSpPr/>
          <p:nvPr/>
        </p:nvSpPr>
        <p:spPr>
          <a:xfrm>
            <a:off x="457200" y="3968496"/>
            <a:ext cx="256032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Frontend</a:t>
            </a:r>
            <a:endParaRPr lang="en-US" sz="1200" dirty="0"/>
          </a:p>
        </p:txBody>
      </p:sp>
      <p:sp>
        <p:nvSpPr>
          <p:cNvPr id="28" name="Shape 26"/>
          <p:cNvSpPr/>
          <p:nvPr/>
        </p:nvSpPr>
        <p:spPr>
          <a:xfrm>
            <a:off x="3063240" y="3968496"/>
            <a:ext cx="5577840" cy="329184"/>
          </a:xfrm>
          <a:prstGeom prst="rect">
            <a:avLst/>
          </a:prstGeom>
          <a:solidFill>
            <a:srgbClr val="EEF3FF"/>
          </a:solidFill>
          <a:ln w="12700">
            <a:solidFill>
              <a:srgbClr val="AAAAAA"/>
            </a:solidFill>
            <a:prstDash val="solid"/>
          </a:ln>
        </p:spPr>
      </p:sp>
      <p:sp>
        <p:nvSpPr>
          <p:cNvPr id="29" name="Text 27"/>
          <p:cNvSpPr/>
          <p:nvPr/>
        </p:nvSpPr>
        <p:spPr>
          <a:xfrm>
            <a:off x="3154680" y="3968496"/>
            <a:ext cx="5394960" cy="329184"/>
          </a:xfrm>
          <a:prstGeom prst="rect">
            <a:avLst/>
          </a:prstGeom>
          <a:noFill/>
          <a:ln/>
        </p:spPr>
        <p:txBody>
          <a:bodyPr wrap="square" rtlCol="0" anchor="ctr"/>
          <a:lstStyle/>
          <a:p>
            <a:pPr algn="l" indent="0" marL="0">
              <a:buNone/>
            </a:pPr>
            <a:r>
              <a:rPr lang="en-US" sz="1200" dirty="0">
                <a:solidFill>
                  <a:srgbClr val="000000"/>
                </a:solidFill>
                <a:latin typeface="Calibri" pitchFamily="34" charset="0"/>
                <a:ea typeface="Calibri" pitchFamily="34" charset="-122"/>
                <a:cs typeface="Calibri" pitchFamily="34" charset="-120"/>
              </a:rPr>
              <a:t>React 18, Vite, Tailwind CSS, Recharts</a:t>
            </a:r>
            <a:endParaRPr lang="en-US" sz="1200" dirty="0"/>
          </a:p>
        </p:txBody>
      </p:sp>
      <p:sp>
        <p:nvSpPr>
          <p:cNvPr id="30" name="Shape 28"/>
          <p:cNvSpPr/>
          <p:nvPr/>
        </p:nvSpPr>
        <p:spPr>
          <a:xfrm>
            <a:off x="457200" y="4334256"/>
            <a:ext cx="2560320" cy="329184"/>
          </a:xfrm>
          <a:prstGeom prst="rect">
            <a:avLst/>
          </a:prstGeom>
          <a:solidFill>
            <a:srgbClr val="1565C0"/>
          </a:solidFill>
          <a:ln w="12700">
            <a:solidFill>
              <a:srgbClr val="1565C0"/>
            </a:solidFill>
            <a:prstDash val="solid"/>
          </a:ln>
        </p:spPr>
      </p:sp>
      <p:sp>
        <p:nvSpPr>
          <p:cNvPr id="31" name="Text 29"/>
          <p:cNvSpPr/>
          <p:nvPr/>
        </p:nvSpPr>
        <p:spPr>
          <a:xfrm>
            <a:off x="457200" y="4334256"/>
            <a:ext cx="256032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ML Libraries</a:t>
            </a:r>
            <a:endParaRPr lang="en-US" sz="1200" dirty="0"/>
          </a:p>
        </p:txBody>
      </p:sp>
      <p:sp>
        <p:nvSpPr>
          <p:cNvPr id="32" name="Shape 30"/>
          <p:cNvSpPr/>
          <p:nvPr/>
        </p:nvSpPr>
        <p:spPr>
          <a:xfrm>
            <a:off x="3063240" y="4334256"/>
            <a:ext cx="5577840" cy="329184"/>
          </a:xfrm>
          <a:prstGeom prst="rect">
            <a:avLst/>
          </a:prstGeom>
          <a:solidFill>
            <a:srgbClr val="EEF3FF"/>
          </a:solidFill>
          <a:ln w="12700">
            <a:solidFill>
              <a:srgbClr val="AAAAAA"/>
            </a:solidFill>
            <a:prstDash val="solid"/>
          </a:ln>
        </p:spPr>
      </p:sp>
      <p:sp>
        <p:nvSpPr>
          <p:cNvPr id="33" name="Text 31"/>
          <p:cNvSpPr/>
          <p:nvPr/>
        </p:nvSpPr>
        <p:spPr>
          <a:xfrm>
            <a:off x="3154680" y="4334256"/>
            <a:ext cx="5394960" cy="329184"/>
          </a:xfrm>
          <a:prstGeom prst="rect">
            <a:avLst/>
          </a:prstGeom>
          <a:noFill/>
          <a:ln/>
        </p:spPr>
        <p:txBody>
          <a:bodyPr wrap="square" rtlCol="0" anchor="ctr"/>
          <a:lstStyle/>
          <a:p>
            <a:pPr algn="l" indent="0" marL="0">
              <a:buNone/>
            </a:pPr>
            <a:r>
              <a:rPr lang="en-US" sz="1200" dirty="0">
                <a:solidFill>
                  <a:srgbClr val="000000"/>
                </a:solidFill>
                <a:latin typeface="Calibri" pitchFamily="34" charset="0"/>
                <a:ea typeface="Calibri" pitchFamily="34" charset="-122"/>
                <a:cs typeface="Calibri" pitchFamily="34" charset="-120"/>
              </a:rPr>
              <a:t>Scikit-learn (RandomForest, KMeans, t-SNE)</a:t>
            </a:r>
            <a:endParaRPr lang="en-US" sz="1200" dirty="0"/>
          </a:p>
        </p:txBody>
      </p:sp>
      <p:sp>
        <p:nvSpPr>
          <p:cNvPr id="34" name="Shape 32"/>
          <p:cNvSpPr/>
          <p:nvPr/>
        </p:nvSpPr>
        <p:spPr>
          <a:xfrm>
            <a:off x="457200" y="4700016"/>
            <a:ext cx="2560320" cy="329184"/>
          </a:xfrm>
          <a:prstGeom prst="rect">
            <a:avLst/>
          </a:prstGeom>
          <a:solidFill>
            <a:srgbClr val="1565C0"/>
          </a:solidFill>
          <a:ln w="12700">
            <a:solidFill>
              <a:srgbClr val="1565C0"/>
            </a:solidFill>
            <a:prstDash val="solid"/>
          </a:ln>
        </p:spPr>
      </p:sp>
      <p:sp>
        <p:nvSpPr>
          <p:cNvPr id="35" name="Text 33"/>
          <p:cNvSpPr/>
          <p:nvPr/>
        </p:nvSpPr>
        <p:spPr>
          <a:xfrm>
            <a:off x="457200" y="4700016"/>
            <a:ext cx="256032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 Layer</a:t>
            </a:r>
            <a:endParaRPr lang="en-US" sz="1200" dirty="0"/>
          </a:p>
        </p:txBody>
      </p:sp>
      <p:sp>
        <p:nvSpPr>
          <p:cNvPr id="36" name="Shape 34"/>
          <p:cNvSpPr/>
          <p:nvPr/>
        </p:nvSpPr>
        <p:spPr>
          <a:xfrm>
            <a:off x="3063240" y="4700016"/>
            <a:ext cx="5577840" cy="329184"/>
          </a:xfrm>
          <a:prstGeom prst="rect">
            <a:avLst/>
          </a:prstGeom>
          <a:solidFill>
            <a:srgbClr val="EEF3FF"/>
          </a:solidFill>
          <a:ln w="12700">
            <a:solidFill>
              <a:srgbClr val="AAAAAA"/>
            </a:solidFill>
            <a:prstDash val="solid"/>
          </a:ln>
        </p:spPr>
      </p:sp>
      <p:sp>
        <p:nvSpPr>
          <p:cNvPr id="37" name="Text 35"/>
          <p:cNvSpPr/>
          <p:nvPr/>
        </p:nvSpPr>
        <p:spPr>
          <a:xfrm>
            <a:off x="3154680" y="4700016"/>
            <a:ext cx="5394960" cy="329184"/>
          </a:xfrm>
          <a:prstGeom prst="rect">
            <a:avLst/>
          </a:prstGeom>
          <a:noFill/>
          <a:ln/>
        </p:spPr>
        <p:txBody>
          <a:bodyPr wrap="square" rtlCol="0" anchor="ctr"/>
          <a:lstStyle/>
          <a:p>
            <a:pPr algn="l" indent="0" marL="0">
              <a:buNone/>
            </a:pPr>
            <a:r>
              <a:rPr lang="en-US" sz="1200" dirty="0">
                <a:solidFill>
                  <a:srgbClr val="000000"/>
                </a:solidFill>
                <a:latin typeface="Calibri" pitchFamily="34" charset="0"/>
                <a:ea typeface="Calibri" pitchFamily="34" charset="-122"/>
                <a:cs typeface="Calibri" pitchFamily="34" charset="-120"/>
              </a:rPr>
              <a:t>Google Gemini 2.5 Flash (4-key rotation)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4" name="Text 2"/>
          <p:cNvSpPr/>
          <p:nvPr/>
        </p:nvSpPr>
        <p:spPr>
          <a:xfrm>
            <a:off x="457200" y="960120"/>
            <a:ext cx="8229600" cy="3977640"/>
          </a:xfrm>
          <a:prstGeom prst="rect">
            <a:avLst/>
          </a:prstGeom>
          <a:noFill/>
          <a:ln/>
        </p:spPr>
        <p:txBody>
          <a:bodyPr wrap="square" rtlCol="0" anchor="t"/>
          <a:lstStyle/>
          <a:p>
            <a:pPr algn="just" indent="0" marL="0">
              <a:spcAft>
                <a:spcPts val="600"/>
              </a:spcAft>
              <a:buNone/>
            </a:pPr>
            <a:r>
              <a:rPr lang="en-US" sz="1450" dirty="0">
                <a:solidFill>
                  <a:srgbClr val="000000"/>
                </a:solidFill>
                <a:latin typeface="Calibri" pitchFamily="34" charset="0"/>
                <a:ea typeface="Calibri" pitchFamily="34" charset="-122"/>
                <a:cs typeface="Calibri" pitchFamily="34" charset="-120"/>
              </a:rPr>
              <a:t>In conclusion, this project presents an AI-Powered Student Performance Prediction Platform that extends the IEEE-validated RandomForest baseline into a complete institutional academic decision-support system. The RandomForestClassifier achieves 89.45% test accuracy with consistent 89.33% cross-validation performance, providing reliable risk classification across Good, Average, and At Risk categories. The Gemini 2.5 Flash AI advisory layer generates personalised 4-section guidance for every student, while the SHA-256 caching architecture delivers instant repeat predictions at ~400 ms — a 260× improvement over uncached advisory generation. The 4-key Gemini rotation eliminates rate-limit failures, ensuring reliable live demonstrations. Mathematically validated t-SNE + KMeans behaviour clustering — justified via Elbow Method and Silhouette Score sweep — makes the unsupervised component suitable for IEEE and final-year academic evaluation. Overall, this platform demonstrates that IEEE-grade ML prediction, when combined with Generative AI explainability, intelligent caching, and a complete institutional monitoring suite, can genuinely transform how academic institutions identify and support at-risk students.</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8595360" cy="685800"/>
          </a:xfrm>
          <a:prstGeom prst="rect">
            <a:avLst/>
          </a:prstGeom>
          <a:solidFill>
            <a:srgbClr val="1565C0"/>
          </a:solidFill>
          <a:ln w="12700">
            <a:solidFill>
              <a:srgbClr val="1565C0"/>
            </a:solidFill>
            <a:prstDash val="solid"/>
          </a:ln>
        </p:spPr>
      </p:sp>
      <p:sp>
        <p:nvSpPr>
          <p:cNvPr id="3" name="Text 1"/>
          <p:cNvSpPr/>
          <p:nvPr/>
        </p:nvSpPr>
        <p:spPr>
          <a:xfrm>
            <a:off x="274320" y="137160"/>
            <a:ext cx="8595360" cy="6858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References</a:t>
            </a:r>
            <a:endParaRPr lang="en-US" sz="2800" dirty="0"/>
          </a:p>
        </p:txBody>
      </p:sp>
      <p:sp>
        <p:nvSpPr>
          <p:cNvPr id="4" name="Text 2"/>
          <p:cNvSpPr/>
          <p:nvPr/>
        </p:nvSpPr>
        <p:spPr>
          <a:xfrm>
            <a:off x="457200" y="987552"/>
            <a:ext cx="8229600" cy="658368"/>
          </a:xfrm>
          <a:prstGeom prst="rect">
            <a:avLst/>
          </a:prstGeom>
          <a:noFill/>
          <a:ln/>
        </p:spPr>
        <p:txBody>
          <a:bodyPr wrap="square" rtlCol="0" anchor="t"/>
          <a:lstStyle/>
          <a:p>
            <a:pPr algn="just" indent="0" marL="0">
              <a:buNone/>
            </a:pPr>
            <a:r>
              <a:rPr lang="en-US" sz="1300" dirty="0">
                <a:solidFill>
                  <a:srgbClr val="000000"/>
                </a:solidFill>
                <a:latin typeface="Calibri" pitchFamily="34" charset="0"/>
                <a:ea typeface="Calibri" pitchFamily="34" charset="-122"/>
                <a:cs typeface="Calibri" pitchFamily="34" charset="-120"/>
              </a:rPr>
              <a:t>1. IEEE (2023), "Early Predicting of Students Performance in Higher Education," IEEE Xplore. DOI: 10.1109/ACCESS.2023.10056943. URL: ieeexplore.ieee.org/abstract/document/10056943.</a:t>
            </a:r>
            <a:endParaRPr lang="en-US" sz="1300" dirty="0"/>
          </a:p>
        </p:txBody>
      </p:sp>
      <p:sp>
        <p:nvSpPr>
          <p:cNvPr id="5" name="Text 3"/>
          <p:cNvSpPr/>
          <p:nvPr/>
        </p:nvSpPr>
        <p:spPr>
          <a:xfrm>
            <a:off x="457200" y="1737360"/>
            <a:ext cx="8229600" cy="658368"/>
          </a:xfrm>
          <a:prstGeom prst="rect">
            <a:avLst/>
          </a:prstGeom>
          <a:noFill/>
          <a:ln/>
        </p:spPr>
        <p:txBody>
          <a:bodyPr wrap="square" rtlCol="0" anchor="t"/>
          <a:lstStyle/>
          <a:p>
            <a:pPr algn="just" indent="0" marL="0">
              <a:buNone/>
            </a:pPr>
            <a:r>
              <a:rPr lang="en-US" sz="1300" dirty="0">
                <a:solidFill>
                  <a:srgbClr val="000000"/>
                </a:solidFill>
                <a:latin typeface="Calibri" pitchFamily="34" charset="0"/>
                <a:ea typeface="Calibri" pitchFamily="34" charset="-122"/>
                <a:cs typeface="Calibri" pitchFamily="34" charset="-120"/>
              </a:rPr>
              <a:t>2. A. Sharma and R. Gupta, "Student Performance Prediction Using Machine Learning Techniques," Int. J. Computer Applications, vol. 182, no. 15, pp. 34–40, 2019.</a:t>
            </a:r>
            <a:endParaRPr lang="en-US" sz="1300" dirty="0"/>
          </a:p>
        </p:txBody>
      </p:sp>
      <p:sp>
        <p:nvSpPr>
          <p:cNvPr id="6" name="Text 4"/>
          <p:cNvSpPr/>
          <p:nvPr/>
        </p:nvSpPr>
        <p:spPr>
          <a:xfrm>
            <a:off x="457200" y="2487168"/>
            <a:ext cx="8229600" cy="658368"/>
          </a:xfrm>
          <a:prstGeom prst="rect">
            <a:avLst/>
          </a:prstGeom>
          <a:noFill/>
          <a:ln/>
        </p:spPr>
        <p:txBody>
          <a:bodyPr wrap="square" rtlCol="0" anchor="t"/>
          <a:lstStyle/>
          <a:p>
            <a:pPr algn="just" indent="0" marL="0">
              <a:buNone/>
            </a:pPr>
            <a:r>
              <a:rPr lang="en-US" sz="1300" dirty="0">
                <a:solidFill>
                  <a:srgbClr val="000000"/>
                </a:solidFill>
                <a:latin typeface="Calibri" pitchFamily="34" charset="0"/>
                <a:ea typeface="Calibri" pitchFamily="34" charset="-122"/>
                <a:cs typeface="Calibri" pitchFamily="34" charset="-120"/>
              </a:rPr>
              <a:t>3. M. Hussain et al., "Learning Analytics for At-Risk Student Detection in Higher Education," IEEE Access, vol. 9, pp. 74164–74177, 2021.</a:t>
            </a:r>
            <a:endParaRPr lang="en-US" sz="1300" dirty="0"/>
          </a:p>
        </p:txBody>
      </p:sp>
      <p:sp>
        <p:nvSpPr>
          <p:cNvPr id="7" name="Text 5"/>
          <p:cNvSpPr/>
          <p:nvPr/>
        </p:nvSpPr>
        <p:spPr>
          <a:xfrm>
            <a:off x="457200" y="3236976"/>
            <a:ext cx="8229600" cy="658368"/>
          </a:xfrm>
          <a:prstGeom prst="rect">
            <a:avLst/>
          </a:prstGeom>
          <a:noFill/>
          <a:ln/>
        </p:spPr>
        <p:txBody>
          <a:bodyPr wrap="square" rtlCol="0" anchor="t"/>
          <a:lstStyle/>
          <a:p>
            <a:pPr algn="just" indent="0" marL="0">
              <a:buNone/>
            </a:pPr>
            <a:r>
              <a:rPr lang="en-US" sz="1300" dirty="0">
                <a:solidFill>
                  <a:srgbClr val="000000"/>
                </a:solidFill>
                <a:latin typeface="Calibri" pitchFamily="34" charset="0"/>
                <a:ea typeface="Calibri" pitchFamily="34" charset="-122"/>
                <a:cs typeface="Calibri" pitchFamily="34" charset="-120"/>
              </a:rPr>
              <a:t>4. S. Acharya and D. Sinha, "Behaviour Clustering in Educational Data Mining Using KMeans and t-SNE," Proc. ICAISC 2022, pp. 204–211.</a:t>
            </a:r>
            <a:endParaRPr lang="en-US" sz="1300" dirty="0"/>
          </a:p>
        </p:txBody>
      </p:sp>
      <p:sp>
        <p:nvSpPr>
          <p:cNvPr id="8" name="Text 6"/>
          <p:cNvSpPr/>
          <p:nvPr/>
        </p:nvSpPr>
        <p:spPr>
          <a:xfrm>
            <a:off x="457200" y="3986784"/>
            <a:ext cx="8229600" cy="658368"/>
          </a:xfrm>
          <a:prstGeom prst="rect">
            <a:avLst/>
          </a:prstGeom>
          <a:noFill/>
          <a:ln/>
        </p:spPr>
        <p:txBody>
          <a:bodyPr wrap="square" rtlCol="0" anchor="t"/>
          <a:lstStyle/>
          <a:p>
            <a:pPr algn="just" indent="0" marL="0">
              <a:buNone/>
            </a:pPr>
            <a:r>
              <a:rPr lang="en-US" sz="1300" dirty="0">
                <a:solidFill>
                  <a:srgbClr val="000000"/>
                </a:solidFill>
                <a:latin typeface="Calibri" pitchFamily="34" charset="0"/>
                <a:ea typeface="Calibri" pitchFamily="34" charset="-122"/>
                <a:cs typeface="Calibri" pitchFamily="34" charset="-120"/>
              </a:rPr>
              <a:t>5. T. Brown et al., "Generative AI Explanations for ML Predictions in Educational Contexts," arXiv preprint arXiv:2305.14456, 2023.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2026-03-04T18:33:17Z</dcterms:created>
  <dcterms:modified xsi:type="dcterms:W3CDTF">2026-03-04T18:33:17Z</dcterms:modified>
</cp:coreProperties>
</file>